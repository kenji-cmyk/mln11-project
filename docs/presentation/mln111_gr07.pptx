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5240000" cy="85725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E3B440-0649-4833-ADA8-A2019F56A4A6}" type="datetimeFigureOut">
              <a:rPr lang="vi-VN" smtClean="0"/>
              <a:t>30/09/2026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40412-9FD5-43C9-818B-C2A6967EC543}" type="slidenum">
              <a:rPr lang="vi-VN" smtClean="0"/>
              <a:t>‹#›</a:t>
            </a:fld>
            <a:endParaRPr lang="vi-VN"/>
          </a:p>
        </p:txBody>
      </p:sp>
    </p:spTree>
    <p:extLst>
      <p:ext uri="{BB962C8B-B14F-4D97-AF65-F5344CB8AC3E}">
        <p14:creationId xmlns:p14="http://schemas.microsoft.com/office/powerpoint/2010/main" val="1067601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01 | Vì sao xã hội cần nhà nước?</a:t>
            </a:r>
          </a:p>
          <a:p>
            <a:pPr>
              <a:spcAft>
                <a:spcPts val="600"/>
              </a:spcAft>
            </a:pPr>
            <a:r>
              <a:rPr lang="vi-VN" sz="1100"/>
              <a:t>45 giây (mục tiêu diễn tập)</a:t>
            </a:r>
          </a:p>
          <a:p>
            <a:pPr>
              <a:spcAft>
                <a:spcPts val="600"/>
              </a:spcAft>
            </a:pPr>
            <a:r>
              <a:rPr lang="vi-VN" sz="1100" b="1"/>
              <a:t>NHẮC NHANH: Cộng đồng tự quản → lợi ích đối lập → câu hỏi về quyền lực đặc biệt.</a:t>
            </a:r>
          </a:p>
          <a:p>
            <a:pPr>
              <a:spcAft>
                <a:spcPts val="600"/>
              </a:spcAft>
            </a:pPr>
            <a:r>
              <a:rPr lang="vi-VN" sz="1100" b="1"/>
              <a:t>LỜI THUYẾT TRÌNH:</a:t>
            </a:r>
          </a:p>
          <a:p>
            <a:pPr>
              <a:spcAft>
                <a:spcPts val="600"/>
              </a:spcAft>
            </a:pPr>
            <a:r>
              <a:rPr lang="vi-VN" sz="1100"/>
              <a:t>Kính chào thầy cô và các bạn. Nhóm 7 xin trình bày chủ đề Nhà nước trong chương Chủ nghĩa duy vật lịch sử của môn Triết học Mác - Lênin.</a:t>
            </a:r>
          </a:p>
          <a:p>
            <a:pPr>
              <a:spcAft>
                <a:spcPts val="600"/>
              </a:spcAft>
            </a:pPr>
            <a:r>
              <a:rPr lang="vi-VN" sz="1100"/>
              <a:t>Trước hết, hãy hình dung một cộng đồng mà các thành viên cùng tổ chức đời sống bằng phong tục và cơ chế tự quản. Khi xã hội bắt đầu phân hóa, xuất hiện những nhóm có lợi ích đối lập, cơ chế đó còn đủ để giải quyết xung đột hay không?</a:t>
            </a:r>
          </a:p>
          <a:p>
            <a:pPr>
              <a:spcAft>
                <a:spcPts val="600"/>
              </a:spcAft>
            </a:pPr>
            <a:r>
              <a:rPr lang="vi-VN" sz="1100"/>
              <a:t>Đó là câu hỏi mở đầu của bài hôm nay: vì sao xã hội lại xuất hiện một bộ máy quyền lực đặc biệt gọi là nhà nước? Nhóm sẽ trả lời theo cách lý giải của chủ nghĩa Mác - Lênin trong tài liệu học tập, thay vì chỉ bắt đầu bằng một định nghĩa để học thuộc.</a:t>
            </a:r>
          </a:p>
          <a:p>
            <a:pPr>
              <a:spcAft>
                <a:spcPts val="600"/>
              </a:spcAft>
            </a:pPr>
            <a:r>
              <a:rPr lang="vi-VN" sz="1100" b="1"/>
              <a:t>CHUYỂN SLIDE: Để trả lời câu hỏi này, chúng ta cùng nhìn qua năm trục nội dung của bài.</a:t>
            </a:r>
          </a:p>
          <a:p>
            <a:pPr>
              <a:spcAft>
                <a:spcPts val="600"/>
              </a:spcAft>
            </a:pPr>
            <a:r>
              <a:rPr lang="vi-VN" sz="1100" b="1"/>
              <a:t>ĐIỂM CẦN HIỂU: DOCX có nhắc các quan điểm ngoài mácxít và quan điểm mácxít, nhưng không triển khai từng học thuyết. Bài nói chỉ tập trung vào cách lý giải mácxít; không trình bày như kết luận chung của mọi trường phái.</a:t>
            </a:r>
          </a:p>
          <a:p>
            <a:pPr>
              <a:spcAft>
                <a:spcPts val="600"/>
              </a:spcAft>
            </a:pPr>
            <a:r>
              <a:rPr lang="vi-VN" sz="1100" b="1"/>
              <a:t>TRÁNH NHẦM: Không suy từ câu hỏi mở đầu rằng bất kỳ cộng đồng hay bất kỳ xung đột nào cũng tất yếu sinh ra nhà nước.</a:t>
            </a:r>
          </a:p>
          <a:p>
            <a:pPr>
              <a:spcAft>
                <a:spcPts val="600"/>
              </a:spcAft>
            </a:pPr>
            <a:r>
              <a:rPr lang="vi-VN" sz="1100"/>
              <a:t>ĐỐI CHIẾU: DOCX nguồn, mục 2.1 và 2.2; kế hoạch slide 1</a:t>
            </a:r>
          </a:p>
        </p:txBody>
      </p:sp>
      <p:sp>
        <p:nvSpPr>
          <p:cNvPr id="4" name="Slide Number Placeholder 3"/>
          <p:cNvSpPr>
            <a:spLocks noGrp="1"/>
          </p:cNvSpPr>
          <p:nvPr>
            <p:ph type="sldNum" sz="quarter" idx="5"/>
          </p:nvPr>
        </p:nvSpPr>
        <p:spPr/>
        <p:txBody>
          <a:bodyPr/>
          <a:lstStyle/>
          <a:p>
            <a:fld id="{99E40412-9FD5-43C9-818B-C2A6967EC543}" type="slidenum">
              <a:rPr lang="vi-VN" smtClean="0"/>
              <a:t>1</a:t>
            </a:fld>
            <a:endParaRPr lang="vi-VN"/>
          </a:p>
        </p:txBody>
      </p:sp>
    </p:spTree>
    <p:extLst>
      <p:ext uri="{BB962C8B-B14F-4D97-AF65-F5344CB8AC3E}">
        <p14:creationId xmlns:p14="http://schemas.microsoft.com/office/powerpoint/2010/main" val="2162439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02 | Bản đồ bài nói</a:t>
            </a:r>
          </a:p>
          <a:p>
            <a:pPr>
              <a:spcAft>
                <a:spcPts val="600"/>
              </a:spcAft>
            </a:pPr>
            <a:r>
              <a:rPr lang="vi-VN" sz="1100"/>
              <a:t>30 giây (mục tiêu diễn tập)</a:t>
            </a:r>
          </a:p>
          <a:p>
            <a:pPr>
              <a:spcAft>
                <a:spcPts val="600"/>
              </a:spcAft>
            </a:pPr>
            <a:r>
              <a:rPr lang="vi-VN" sz="1100" b="1"/>
              <a:t>NHẮC NHANH: Vì sao ra đời? → quyền lực của ai? → nhận diện? → làm gì? → biến đổi?</a:t>
            </a:r>
          </a:p>
          <a:p>
            <a:pPr>
              <a:spcAft>
                <a:spcPts val="600"/>
              </a:spcAft>
            </a:pPr>
            <a:r>
              <a:rPr lang="vi-VN" sz="1100" b="1"/>
              <a:t>LỜI THUYẾT TRÌNH:</a:t>
            </a:r>
          </a:p>
          <a:p>
            <a:pPr>
              <a:spcAft>
                <a:spcPts val="600"/>
              </a:spcAft>
            </a:pPr>
            <a:r>
              <a:rPr lang="vi-VN" sz="1100"/>
              <a:t>Bài trình bày đi qua năm câu hỏi. Thứ nhất, nhà nước ra đời vì sao. Thứ hai, quyền lực ấy gắn với lợi ích của lực lượng nào. Thứ ba, chúng ta nhận diện nhà nước bằng những đặc trưng gì.</a:t>
            </a:r>
          </a:p>
          <a:p>
            <a:pPr>
              <a:spcAft>
                <a:spcPts val="600"/>
              </a:spcAft>
            </a:pPr>
            <a:r>
              <a:rPr lang="vi-VN" sz="1100"/>
              <a:t>Tiếp theo là nhà nước thực hiện những chức năng nào, và các kiểu, hình thức nhà nước biến đổi ra sao trong lịch sử. Cuối cùng, nhóm liên hệ nội dung Việt Nam theo giáo trình năm 2019 và tổng kết bằng các từ khóa. Như vậy, bài nói đi từ nguyên nhân xuất hiện đến cách tổ chức và vận hành quyền lực.</a:t>
            </a:r>
          </a:p>
          <a:p>
            <a:pPr>
              <a:spcAft>
                <a:spcPts val="600"/>
              </a:spcAft>
            </a:pPr>
            <a:r>
              <a:rPr lang="vi-VN" sz="1100" b="1"/>
              <a:t>CHUYỂN SLIDE: Chúng ta bắt đầu từ nguồn gốc: trước khi có nhà nước, cộng đồng tổ chức đời sống như thế nào?</a:t>
            </a:r>
          </a:p>
          <a:p>
            <a:pPr>
              <a:spcAft>
                <a:spcPts val="600"/>
              </a:spcAft>
            </a:pPr>
            <a:r>
              <a:rPr lang="vi-VN" sz="1100" b="1"/>
              <a:t>ĐIỂM CẦN HIỂU: Năm trục là cấu trúc khái quát. Phần liên hệ Việt Nam và phần hỏi đáp vẫn nằm trong bài, dù không được tách thành một trục riêng trên sơ đồ.</a:t>
            </a:r>
          </a:p>
          <a:p>
            <a:pPr>
              <a:spcAft>
                <a:spcPts val="600"/>
              </a:spcAft>
            </a:pPr>
            <a:r>
              <a:rPr lang="vi-VN" sz="1100" b="1"/>
              <a:t>TRÁNH NHẦM: Không đọc lặp lại toàn bộ tiêu đề từng thẻ; chỉ dùng chúng để định hướng câu chuyện.</a:t>
            </a:r>
          </a:p>
          <a:p>
            <a:pPr>
              <a:spcAft>
                <a:spcPts val="600"/>
              </a:spcAft>
            </a:pPr>
            <a:r>
              <a:rPr lang="vi-VN" sz="1100"/>
              <a:t>ĐỐI CHIẾU: DOCX nguồn, mục 1, 3 và kế hoạch slide 2</a:t>
            </a:r>
          </a:p>
        </p:txBody>
      </p:sp>
      <p:sp>
        <p:nvSpPr>
          <p:cNvPr id="4" name="Slide Number Placeholder 3"/>
          <p:cNvSpPr>
            <a:spLocks noGrp="1"/>
          </p:cNvSpPr>
          <p:nvPr>
            <p:ph type="sldNum" sz="quarter" idx="5"/>
          </p:nvPr>
        </p:nvSpPr>
        <p:spPr/>
        <p:txBody>
          <a:bodyPr/>
          <a:lstStyle/>
          <a:p>
            <a:fld id="{99E40412-9FD5-43C9-818B-C2A6967EC543}" type="slidenum">
              <a:rPr lang="vi-VN" smtClean="0"/>
              <a:t>2</a:t>
            </a:fld>
            <a:endParaRPr lang="vi-VN"/>
          </a:p>
        </p:txBody>
      </p:sp>
    </p:spTree>
    <p:extLst>
      <p:ext uri="{BB962C8B-B14F-4D97-AF65-F5344CB8AC3E}">
        <p14:creationId xmlns:p14="http://schemas.microsoft.com/office/powerpoint/2010/main" val="1147267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03 | Từ cộng đồng đến phân hóa</a:t>
            </a:r>
          </a:p>
          <a:p>
            <a:pPr>
              <a:spcAft>
                <a:spcPts val="600"/>
              </a:spcAft>
            </a:pPr>
            <a:r>
              <a:rPr lang="vi-VN" sz="1100"/>
              <a:t>60 giây (mục tiêu diễn tập)</a:t>
            </a:r>
          </a:p>
          <a:p>
            <a:pPr>
              <a:spcAft>
                <a:spcPts val="600"/>
              </a:spcAft>
            </a:pPr>
            <a:r>
              <a:rPr lang="vi-VN" sz="1100" b="1"/>
              <a:t>NHẮC NHANH: Tự quản → lực lượng sản xuất phát triển → tư hữu → phân hóa giai cấp.</a:t>
            </a:r>
          </a:p>
          <a:p>
            <a:pPr>
              <a:spcAft>
                <a:spcPts val="600"/>
              </a:spcAft>
            </a:pPr>
            <a:r>
              <a:rPr lang="vi-VN" sz="1100" b="1"/>
              <a:t>LỜI THUYẾT TRÌNH:</a:t>
            </a:r>
          </a:p>
          <a:p>
            <a:pPr>
              <a:spcAft>
                <a:spcPts val="600"/>
              </a:spcAft>
            </a:pPr>
            <a:r>
              <a:rPr lang="vi-VN" sz="1100"/>
              <a:t>Theo tài liệu, trong cộng đồng thị tộc, bộ lạc, chưa có nhà nước với tư cách một quyền lực công cộng đứng tách khỏi xã hội. Điều này không có nghĩa cộng đồng không có tổ chức hay không có người điều hành; điểm khác là đời sống còn dựa nhiều vào cơ chế tự quản của cộng đồng.</a:t>
            </a:r>
          </a:p>
          <a:p>
            <a:pPr>
              <a:spcAft>
                <a:spcPts val="600"/>
              </a:spcAft>
            </a:pPr>
            <a:r>
              <a:rPr lang="vi-VN" sz="1100"/>
              <a:t>Khi lực lượng sản xuất phát triển, xuất hiện của cải dư thừa tương đối và chế độ tư hữu, các quan hệ lợi ích trong xã hội dần thay đổi. Từ đó, xã hội phân hóa sâu hơn và hình thành những giai cấp có lợi ích đối lập.</a:t>
            </a:r>
          </a:p>
          <a:p>
            <a:pPr>
              <a:spcAft>
                <a:spcPts val="600"/>
              </a:spcAft>
            </a:pPr>
            <a:r>
              <a:rPr lang="vi-VN" sz="1100"/>
              <a:t>Bốn bước trên slide giúp chúng ta nhớ logic này: từ tự quản cộng đồng, qua phát triển sản xuất và tư hữu, đến phân hóa giai cấp. Đây là chuỗi khái quát về điều kiện hình thành, không phải bảng niên đại giống nhau cho mọi cộng đồng.</a:t>
            </a:r>
          </a:p>
          <a:p>
            <a:pPr>
              <a:spcAft>
                <a:spcPts val="600"/>
              </a:spcAft>
            </a:pPr>
            <a:r>
              <a:rPr lang="vi-VN" sz="1100"/>
              <a:t>Vì vậy, nhà nước không được xem là một thiết chế tồn tại vĩnh viễn ngay từ đầu. Nó xuất hiện trong những điều kiện kinh tế - xã hội nhất định.</a:t>
            </a:r>
          </a:p>
          <a:p>
            <a:pPr>
              <a:spcAft>
                <a:spcPts val="600"/>
              </a:spcAft>
            </a:pPr>
            <a:r>
              <a:rPr lang="vi-VN" sz="1100" b="1"/>
              <a:t>CHUYỂN SLIDE: Nhưng phân hóa giai cấp chưa phải toàn bộ câu trả lời. Điểm tiếp theo là mâu thuẫn giữa các giai cấp trở nên như thế nào.</a:t>
            </a:r>
          </a:p>
          <a:p>
            <a:pPr>
              <a:spcAft>
                <a:spcPts val="600"/>
              </a:spcAft>
            </a:pPr>
            <a:r>
              <a:rPr lang="vi-VN" sz="1100" b="1"/>
              <a:t>ĐIỂM CẦN HIỂU: Lực lượng sản xuất phát triển là điều kiện kinh tế được nêu trong chuỗi; không rút gọn thành 'sản xuất phát triển là lập tức có nhà nước'.</a:t>
            </a:r>
          </a:p>
          <a:p>
            <a:pPr>
              <a:spcAft>
                <a:spcPts val="600"/>
              </a:spcAft>
            </a:pPr>
            <a:r>
              <a:rPr lang="vi-VN" sz="1100" b="1"/>
              <a:t>TRÁNH NHẦM: Phân biệt chưa có nhà nước với chưa có tổ chức cộng đồng.</a:t>
            </a:r>
          </a:p>
          <a:p>
            <a:pPr>
              <a:spcAft>
                <a:spcPts val="600"/>
              </a:spcAft>
            </a:pPr>
            <a:r>
              <a:rPr lang="vi-VN" sz="1100"/>
              <a:t>ĐỐI CHIẾU: DOCX nguồn, mục 2.1 và 2.2; kế hoạch slide 3</a:t>
            </a:r>
          </a:p>
        </p:txBody>
      </p:sp>
      <p:sp>
        <p:nvSpPr>
          <p:cNvPr id="4" name="Slide Number Placeholder 3"/>
          <p:cNvSpPr>
            <a:spLocks noGrp="1"/>
          </p:cNvSpPr>
          <p:nvPr>
            <p:ph type="sldNum" sz="quarter" idx="5"/>
          </p:nvPr>
        </p:nvSpPr>
        <p:spPr/>
        <p:txBody>
          <a:bodyPr/>
          <a:lstStyle/>
          <a:p>
            <a:fld id="{99E40412-9FD5-43C9-818B-C2A6967EC543}" type="slidenum">
              <a:rPr lang="vi-VN" smtClean="0"/>
              <a:t>3</a:t>
            </a:fld>
            <a:endParaRPr lang="vi-VN"/>
          </a:p>
        </p:txBody>
      </p:sp>
    </p:spTree>
    <p:extLst>
      <p:ext uri="{BB962C8B-B14F-4D97-AF65-F5344CB8AC3E}">
        <p14:creationId xmlns:p14="http://schemas.microsoft.com/office/powerpoint/2010/main" val="2800783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04 | Mâu thuẫn không thể điều hòa</a:t>
            </a:r>
          </a:p>
          <a:p>
            <a:pPr>
              <a:spcAft>
                <a:spcPts val="600"/>
              </a:spcAft>
            </a:pPr>
            <a:r>
              <a:rPr lang="vi-VN" sz="1100"/>
              <a:t>60 giây (mục tiêu diễn tập)</a:t>
            </a:r>
          </a:p>
          <a:p>
            <a:pPr>
              <a:spcAft>
                <a:spcPts val="600"/>
              </a:spcAft>
            </a:pPr>
            <a:r>
              <a:rPr lang="vi-VN" sz="1100" b="1"/>
              <a:t>NHẮC NHANH: Giai cấp đối kháng → tự quản cũ không giải quyết được → bộ máy quyền lực chuyên biệt.</a:t>
            </a:r>
          </a:p>
          <a:p>
            <a:pPr>
              <a:spcAft>
                <a:spcPts val="600"/>
              </a:spcAft>
            </a:pPr>
            <a:r>
              <a:rPr lang="vi-VN" sz="1100" b="1"/>
              <a:t>LỜI THUYẾT TRÌNH:</a:t>
            </a:r>
          </a:p>
          <a:p>
            <a:pPr>
              <a:spcAft>
                <a:spcPts val="600"/>
              </a:spcAft>
            </a:pPr>
            <a:r>
              <a:rPr lang="vi-VN" sz="1100"/>
              <a:t>Ở slide trước, chúng ta thấy quá trình hình thành các giai cấp có lợi ích đối lập. Slide này nhấn mạnh điểm quyết định trong cách lý giải của tài liệu: mâu thuẫn giai cấp trở nên không thể điều hòa bằng cơ chế tự quản cũ.</a:t>
            </a:r>
          </a:p>
          <a:p>
            <a:pPr>
              <a:spcAft>
                <a:spcPts val="600"/>
              </a:spcAft>
            </a:pPr>
            <a:r>
              <a:rPr lang="vi-VN" sz="1100"/>
              <a:t>Khi cơ chế ấy không còn đủ sức giải quyết xung đột và duy trì trật tự, xuất hiện một bộ máy quyền lực công cộng chuyên biệt: nhà nước. Bộ máy này đứng tách khỏi cơ chế tự quản trực tiếp của cộng đồng và có những công cụ thực hiện quyền lực riêng.</a:t>
            </a:r>
          </a:p>
          <a:p>
            <a:pPr>
              <a:spcAft>
                <a:spcPts val="600"/>
              </a:spcAft>
            </a:pPr>
            <a:r>
              <a:rPr lang="vi-VN" sz="1100"/>
              <a:t>Tuy nhiên, cần hiểu đầy đủ chữ 'trật tự' trên slide. Theo tài liệu, trật tự đó đồng thời bảo đảm địa vị của giai cấp thống trị. Vì vậy, nhà nước không được mô tả là một trọng tài hoàn toàn trung lập, đứng ngoài mọi quan hệ giai cấp.</a:t>
            </a:r>
          </a:p>
          <a:p>
            <a:pPr>
              <a:spcAft>
                <a:spcPts val="600"/>
              </a:spcAft>
            </a:pPr>
            <a:r>
              <a:rPr lang="vi-VN" sz="1100"/>
              <a:t>Câu chốt là: nhà nước xuất hiện gắn với mâu thuẫn giai cấp không thể điều hòa, chứ không chỉ vì xã hội có một bất đồng thông thường.</a:t>
            </a:r>
          </a:p>
          <a:p>
            <a:pPr>
              <a:spcAft>
                <a:spcPts val="600"/>
              </a:spcAft>
            </a:pPr>
            <a:r>
              <a:rPr lang="vi-VN" sz="1100" b="1"/>
              <a:t>CHUYỂN SLIDE: Nếu nhà nước là một bộ máy quyền lực như vậy, quyền lực ấy gắn với lợi ích của lực lượng nào?</a:t>
            </a:r>
          </a:p>
          <a:p>
            <a:pPr>
              <a:spcAft>
                <a:spcPts val="600"/>
              </a:spcAft>
            </a:pPr>
            <a:r>
              <a:rPr lang="vi-VN" sz="1100" b="1"/>
              <a:t>ĐIỂM CẦN HIỂU: Hai khối đối kháng trong sơ đồ chỉ minh họa quan hệ xung đột, không khẳng định mọi xã hội chỉ có đúng hai giai cấp.</a:t>
            </a:r>
          </a:p>
          <a:p>
            <a:pPr>
              <a:spcAft>
                <a:spcPts val="600"/>
              </a:spcAft>
            </a:pPr>
            <a:r>
              <a:rPr lang="vi-VN" sz="1100" b="1"/>
              <a:t>TRÁNH NHẦM: Không diễn giải 'duy trì trật tự' thành việc bảo vệ lợi ích mọi giai cấp theo một cách hoàn toàn ngang nhau.</a:t>
            </a:r>
          </a:p>
          <a:p>
            <a:pPr>
              <a:spcAft>
                <a:spcPts val="600"/>
              </a:spcAft>
            </a:pPr>
            <a:r>
              <a:rPr lang="vi-VN" sz="1100"/>
              <a:t>ĐỐI CHIẾU: DOCX nguồn, mục 2.2; kế hoạch slide 4</a:t>
            </a:r>
          </a:p>
        </p:txBody>
      </p:sp>
      <p:sp>
        <p:nvSpPr>
          <p:cNvPr id="4" name="Slide Number Placeholder 3"/>
          <p:cNvSpPr>
            <a:spLocks noGrp="1"/>
          </p:cNvSpPr>
          <p:nvPr>
            <p:ph type="sldNum" sz="quarter" idx="5"/>
          </p:nvPr>
        </p:nvSpPr>
        <p:spPr/>
        <p:txBody>
          <a:bodyPr/>
          <a:lstStyle/>
          <a:p>
            <a:fld id="{99E40412-9FD5-43C9-818B-C2A6967EC543}" type="slidenum">
              <a:rPr lang="vi-VN" smtClean="0"/>
              <a:t>4</a:t>
            </a:fld>
            <a:endParaRPr lang="vi-VN"/>
          </a:p>
        </p:txBody>
      </p:sp>
    </p:spTree>
    <p:extLst>
      <p:ext uri="{BB962C8B-B14F-4D97-AF65-F5344CB8AC3E}">
        <p14:creationId xmlns:p14="http://schemas.microsoft.com/office/powerpoint/2010/main" val="1312261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05 | Bản chất của nhà nước</a:t>
            </a:r>
          </a:p>
          <a:p>
            <a:pPr>
              <a:spcAft>
                <a:spcPts val="600"/>
              </a:spcAft>
            </a:pPr>
            <a:r>
              <a:rPr lang="vi-VN" sz="1100"/>
              <a:t>70 giây (mục tiêu diễn tập)</a:t>
            </a:r>
          </a:p>
          <a:p>
            <a:pPr>
              <a:spcAft>
                <a:spcPts val="600"/>
              </a:spcAft>
            </a:pPr>
            <a:r>
              <a:rPr lang="vi-VN" sz="1100" b="1"/>
              <a:t>NHẮC NHANH: Thống trị về kinh tế → quyền lực nhà nước → duy trì trật tự; độc lập tương đối là có điều kiện.</a:t>
            </a:r>
          </a:p>
          <a:p>
            <a:pPr>
              <a:spcAft>
                <a:spcPts val="600"/>
              </a:spcAft>
            </a:pPr>
            <a:r>
              <a:rPr lang="vi-VN" sz="1100" b="1"/>
              <a:t>LỜI THUYẾT TRÌNH:</a:t>
            </a:r>
          </a:p>
          <a:p>
            <a:pPr>
              <a:spcAft>
                <a:spcPts val="600"/>
              </a:spcAft>
            </a:pPr>
            <a:r>
              <a:rPr lang="vi-VN" sz="1100"/>
              <a:t>Bản chất trả lời câu hỏi quyền lực nhà nước gắn với lợi ích giai cấp nào. Theo tài liệu, nhà nước là một tổ chức chính trị gắn với giai cấp thống trị về kinh tế, sử dụng quyền lực để duy trì trật tự hiện hành và xử lý sự phản kháng của các lực lượng đối lập.</a:t>
            </a:r>
          </a:p>
          <a:p>
            <a:pPr>
              <a:spcAft>
                <a:spcPts val="600"/>
              </a:spcAft>
            </a:pPr>
            <a:r>
              <a:rPr lang="vi-VN" sz="1100"/>
              <a:t>Sơ đồ trên slide cho thấy mối liên hệ giữa vị trí thống trị về kinh tế, quyền lực nhà nước và việc duy trì trật tự xã hội. Quyền lực đó được thực hiện thông qua bộ máy, chính sách và pháp luật. Vì vậy, khi phân tích bản chất, chúng ta không chỉ nhìn tên gọi của cơ quan mà phải xét quan hệ giữa quyền lực và lợi ích giai cấp.</a:t>
            </a:r>
          </a:p>
          <a:p>
            <a:pPr>
              <a:spcAft>
                <a:spcPts val="600"/>
              </a:spcAft>
            </a:pPr>
            <a:r>
              <a:rPr lang="vi-VN" sz="1100"/>
              <a:t>Tài liệu cũng nêu một điểm cần tránh hiểu máy móc: trong một số thời kỳ, khi tương quan lực lượng giữa các giai cấp gần cân bằng, bộ máy nhà nước có thể có mức độ độc lập tương đối. Đây là một khả năng có điều kiện, không phải sự độc lập tuyệt đối khỏi các quan hệ giai cấp.</a:t>
            </a:r>
          </a:p>
          <a:p>
            <a:pPr>
              <a:spcAft>
                <a:spcPts val="600"/>
              </a:spcAft>
            </a:pPr>
            <a:r>
              <a:rPr lang="vi-VN" sz="1100"/>
              <a:t>Độc lập tương đối vì thế không xóa bỏ luận điểm về bản chất giai cấp. Đồng thời, có bản chất giai cấp không có nghĩa nhà nước không thực hiện các công việc chung của xã hội; nội dung này sẽ được giải thích ở phần chức năng.</a:t>
            </a:r>
          </a:p>
          <a:p>
            <a:pPr>
              <a:spcAft>
                <a:spcPts val="600"/>
              </a:spcAft>
            </a:pPr>
            <a:r>
              <a:rPr lang="vi-VN" sz="1100" b="1"/>
              <a:t>CHUYỂN SLIDE: Sau bản chất quyền lực, chúng ta chuyển sang câu hỏi nhận diện: một nhà nước có những đặc trưng cấu trúc nào?</a:t>
            </a:r>
          </a:p>
          <a:p>
            <a:pPr>
              <a:spcAft>
                <a:spcPts val="600"/>
              </a:spcAft>
            </a:pPr>
            <a:r>
              <a:rPr lang="vi-VN" sz="1100" b="1"/>
              <a:t>ĐIỂM CẦN HIỂU: Bản chất, đặc trưng và chức năng lần lượt trả lời ba câu hỏi: quyền lực gắn với ai, nhận diện bằng gì, và thực hiện hoạt động nào.</a:t>
            </a:r>
          </a:p>
          <a:p>
            <a:pPr>
              <a:spcAft>
                <a:spcPts val="600"/>
              </a:spcAft>
            </a:pPr>
            <a:r>
              <a:rPr lang="vi-VN" sz="1100" b="1"/>
              <a:t>TRÁNH NHẦM: Không đổi thuật ngữ 'độc lập tương đối' thành 'nhà nước đứng ngoài giai cấp'.</a:t>
            </a:r>
          </a:p>
          <a:p>
            <a:pPr>
              <a:spcAft>
                <a:spcPts val="600"/>
              </a:spcAft>
            </a:pPr>
            <a:r>
              <a:rPr lang="vi-VN" sz="1100"/>
              <a:t>ĐỐI CHIẾU: DOCX nguồn, mục 2.3 và 2.5; kế hoạch slide 5</a:t>
            </a:r>
          </a:p>
        </p:txBody>
      </p:sp>
      <p:sp>
        <p:nvSpPr>
          <p:cNvPr id="4" name="Slide Number Placeholder 3"/>
          <p:cNvSpPr>
            <a:spLocks noGrp="1"/>
          </p:cNvSpPr>
          <p:nvPr>
            <p:ph type="sldNum" sz="quarter" idx="5"/>
          </p:nvPr>
        </p:nvSpPr>
        <p:spPr/>
        <p:txBody>
          <a:bodyPr/>
          <a:lstStyle/>
          <a:p>
            <a:fld id="{99E40412-9FD5-43C9-818B-C2A6967EC543}" type="slidenum">
              <a:rPr lang="vi-VN" smtClean="0"/>
              <a:t>5</a:t>
            </a:fld>
            <a:endParaRPr lang="vi-VN"/>
          </a:p>
        </p:txBody>
      </p:sp>
    </p:spTree>
    <p:extLst>
      <p:ext uri="{BB962C8B-B14F-4D97-AF65-F5344CB8AC3E}">
        <p14:creationId xmlns:p14="http://schemas.microsoft.com/office/powerpoint/2010/main" val="2422538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06 | Ba đặc trưng nhận diện</a:t>
            </a:r>
          </a:p>
          <a:p>
            <a:pPr>
              <a:spcAft>
                <a:spcPts val="600"/>
              </a:spcAft>
            </a:pPr>
            <a:r>
              <a:rPr lang="vi-VN" sz="1100"/>
              <a:t>70 giây (mục tiêu diễn tập)</a:t>
            </a:r>
          </a:p>
          <a:p>
            <a:pPr>
              <a:spcAft>
                <a:spcPts val="600"/>
              </a:spcAft>
            </a:pPr>
            <a:r>
              <a:rPr lang="vi-VN" sz="1100" b="1"/>
              <a:t>NHẮC NHANH: Lãnh thổ → quyền lực công cộng chuyên nghiệp → thuế khóa.</a:t>
            </a:r>
          </a:p>
          <a:p>
            <a:pPr>
              <a:spcAft>
                <a:spcPts val="600"/>
              </a:spcAft>
            </a:pPr>
            <a:r>
              <a:rPr lang="vi-VN" sz="1100" b="1"/>
              <a:t>LỜI THUYẾT TRÌNH:</a:t>
            </a:r>
          </a:p>
          <a:p>
            <a:pPr>
              <a:spcAft>
                <a:spcPts val="600"/>
              </a:spcAft>
            </a:pPr>
            <a:r>
              <a:rPr lang="vi-VN" sz="1100"/>
              <a:t>Tài liệu nêu ba đặc trưng cơ bản để nhận diện nhà nước. Thứ nhất là quản lý dân cư theo lãnh thổ. Cư dân được tổ chức trong một phạm vi lãnh thổ xác định, thay vì chỉ dựa vào quan hệ huyết thống như cộng đồng thị tộc.</a:t>
            </a:r>
          </a:p>
          <a:p>
            <a:pPr>
              <a:spcAft>
                <a:spcPts val="600"/>
              </a:spcAft>
            </a:pPr>
            <a:r>
              <a:rPr lang="vi-VN" sz="1100"/>
              <a:t>Thứ hai là quyền lực công cộng được tổ chức thành một bộ máy chuyên nghiệp. Nhà nước có hệ thống cơ quan quyền lực và các công cụ chấp hành, cưỡng chế chuyên biệt. Điểm cần nhấn mạnh là tính chất tổ chức thành bộ máy, không chỉ là uy tín của một người điều hành cộng đồng.</a:t>
            </a:r>
          </a:p>
          <a:p>
            <a:pPr>
              <a:spcAft>
                <a:spcPts val="600"/>
              </a:spcAft>
            </a:pPr>
            <a:r>
              <a:rPr lang="vi-VN" sz="1100"/>
              <a:t>Thứ ba là thuế khóa. Để duy trì bộ máy và thực hiện quản lý, nhà nước cần nguồn tài chính; tài liệu nhấn mạnh thuế là nguồn chủ yếu. Vì thế, chúng ta nên nói 'nguồn chủ yếu', không nói thuế là nguồn duy nhất.</a:t>
            </a:r>
          </a:p>
          <a:p>
            <a:pPr>
              <a:spcAft>
                <a:spcPts val="600"/>
              </a:spcAft>
            </a:pPr>
            <a:r>
              <a:rPr lang="vi-VN" sz="1100"/>
              <a:t>Ba dấu hiệu này gắn với nhau: nhà nước quản lý dân cư trong một lãnh thổ, thực hiện quyền lực bằng bộ máy riêng và có nguồn tài chính để vận hành. Đây là những đặc trưng về cấu trúc, khác với chức năng là các phương diện hoạt động.</a:t>
            </a:r>
          </a:p>
          <a:p>
            <a:pPr>
              <a:spcAft>
                <a:spcPts val="600"/>
              </a:spcAft>
            </a:pPr>
            <a:r>
              <a:rPr lang="vi-VN" sz="1100" b="1"/>
              <a:t>CHUYỂN SLIDE: Nhận diện được bộ máy rồi, câu hỏi tiếp theo là: nhà nước làm những công việc gì?</a:t>
            </a:r>
          </a:p>
          <a:p>
            <a:pPr>
              <a:spcAft>
                <a:spcPts val="600"/>
              </a:spcAft>
            </a:pPr>
            <a:r>
              <a:rPr lang="vi-VN" sz="1100" b="1"/>
              <a:t>ĐIỂM CẦN HIỂU: Nếu được hỏi 'đặc trưng khác chức năng thế nào', trả lời ngắn: đặc trưng giúp nhận diện thiết chế; chức năng cho biết thiết chế thực hiện những hoạt động nào.</a:t>
            </a:r>
          </a:p>
          <a:p>
            <a:pPr>
              <a:spcAft>
                <a:spcPts val="600"/>
              </a:spcAft>
            </a:pPr>
            <a:r>
              <a:rPr lang="vi-VN" sz="1100" b="1"/>
              <a:t>TRÁNH NHẦM: Không liệt kê giáo dục hay y tế như một đặc trưng; chúng là ví dụ hoạt động trong phần chức năng.</a:t>
            </a:r>
          </a:p>
          <a:p>
            <a:pPr>
              <a:spcAft>
                <a:spcPts val="600"/>
              </a:spcAft>
            </a:pPr>
            <a:r>
              <a:rPr lang="vi-VN" sz="1100"/>
              <a:t>ĐỐI CHIẾU: DOCX nguồn, mục 2.4; kế hoạch slide 6</a:t>
            </a:r>
          </a:p>
        </p:txBody>
      </p:sp>
      <p:sp>
        <p:nvSpPr>
          <p:cNvPr id="4" name="Slide Number Placeholder 3"/>
          <p:cNvSpPr>
            <a:spLocks noGrp="1"/>
          </p:cNvSpPr>
          <p:nvPr>
            <p:ph type="sldNum" sz="quarter" idx="5"/>
          </p:nvPr>
        </p:nvSpPr>
        <p:spPr/>
        <p:txBody>
          <a:bodyPr/>
          <a:lstStyle/>
          <a:p>
            <a:fld id="{99E40412-9FD5-43C9-818B-C2A6967EC543}" type="slidenum">
              <a:rPr lang="vi-VN" smtClean="0"/>
              <a:t>6</a:t>
            </a:fld>
            <a:endParaRPr lang="vi-VN"/>
          </a:p>
        </p:txBody>
      </p:sp>
    </p:spTree>
    <p:extLst>
      <p:ext uri="{BB962C8B-B14F-4D97-AF65-F5344CB8AC3E}">
        <p14:creationId xmlns:p14="http://schemas.microsoft.com/office/powerpoint/2010/main" val="2478043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07 | Ma trận chức năng</a:t>
            </a:r>
          </a:p>
          <a:p>
            <a:pPr>
              <a:spcAft>
                <a:spcPts val="600"/>
              </a:spcAft>
            </a:pPr>
            <a:r>
              <a:rPr lang="vi-VN" sz="1100"/>
              <a:t>75 giây (mục tiêu diễn tập)</a:t>
            </a:r>
          </a:p>
          <a:p>
            <a:pPr>
              <a:spcAft>
                <a:spcPts val="600"/>
              </a:spcAft>
            </a:pPr>
            <a:r>
              <a:rPr lang="vi-VN" sz="1100" b="1"/>
              <a:t>NHẮC NHANH: Đọc cột: chính trị / xã hội. Đọc hàng: đối nội / đối ngoại. Hai tiêu chí cùng áp dụng.</a:t>
            </a:r>
          </a:p>
          <a:p>
            <a:pPr>
              <a:spcAft>
                <a:spcPts val="600"/>
              </a:spcAft>
            </a:pPr>
            <a:r>
              <a:rPr lang="vi-VN" sz="1100" b="1"/>
              <a:t>LỜI THUYẾT TRÌNH:</a:t>
            </a:r>
          </a:p>
          <a:p>
            <a:pPr>
              <a:spcAft>
                <a:spcPts val="600"/>
              </a:spcAft>
            </a:pPr>
            <a:r>
              <a:rPr lang="vi-VN" sz="1100"/>
              <a:t>Ma trận này kết hợp hai cách phân loại chức năng của nhà nước. Đọc theo cột, tiêu chí là bản chất hoạt động: chức năng thống trị chính trị và chức năng xã hội. Đọc theo hàng, tiêu chí là phạm vi hoạt động: đối nội và đối ngoại.</a:t>
            </a:r>
          </a:p>
          <a:p>
            <a:pPr>
              <a:spcAft>
                <a:spcPts val="600"/>
              </a:spcAft>
            </a:pPr>
            <a:r>
              <a:rPr lang="vi-VN" sz="1100"/>
              <a:t>Chức năng thống trị chính trị gắn với việc sử dụng bộ máy, chính sách và pháp luật để duy trì trật tự theo lợi ích của giai cấp thống trị. Chức năng xã hội gắn với việc tổ chức những công việc chung để duy trì điều kiện tồn tại của xã hội.</a:t>
            </a:r>
          </a:p>
          <a:p>
            <a:pPr>
              <a:spcAft>
                <a:spcPts val="600"/>
              </a:spcAft>
            </a:pPr>
            <a:r>
              <a:rPr lang="vi-VN" sz="1100"/>
              <a:t>Các ô trên slide là ví dụ minh họa để hình dung sự giao nhau. Chẳng hạn, tổ chức giáo dục và y tế trong nước thuộc phạm vi đối nội và có nội dung xã hội. Hợp tác giáo dục hoặc y tế với bên ngoài thuộc phạm vi đối ngoại, nhưng vẫn có nội dung xã hội.</a:t>
            </a:r>
          </a:p>
          <a:p>
            <a:pPr>
              <a:spcAft>
                <a:spcPts val="600"/>
              </a:spcAft>
            </a:pPr>
            <a:r>
              <a:rPr lang="vi-VN" sz="1100"/>
              <a:t>Điểm cần nhớ là đây không phải bốn loại chức năng hoàn toàn tách biệt, loại trừ nhau. Một hoạt động có thể được nhìn đồng thời theo cả hai tiêu chí; nội dung chính trị và xã hội cũng có thể đan xen. Chúng ta dùng ma trận để phân tích, không dùng nó để đóng mỗi hoạt động vào duy nhất một ô.</a:t>
            </a:r>
          </a:p>
          <a:p>
            <a:pPr>
              <a:spcAft>
                <a:spcPts val="600"/>
              </a:spcAft>
            </a:pPr>
            <a:r>
              <a:rPr lang="vi-VN" sz="1100" b="1"/>
              <a:t>CHUYỂN SLIDE: Trước hết, chúng ta xem kỹ hơn quan hệ giữa chức năng thống trị chính trị và chức năng xã hội.</a:t>
            </a:r>
          </a:p>
          <a:p>
            <a:pPr>
              <a:spcAft>
                <a:spcPts val="600"/>
              </a:spcAft>
            </a:pPr>
            <a:r>
              <a:rPr lang="vi-VN" sz="1100" b="1"/>
              <a:t>ĐIỂM CẦN HIỂU: 'Duy trì trật tự' và 'bảo vệ lợi ích quốc gia' trong các ô chỉ là ví dụ. Không suy rằng mọi hoạt động đối nội chỉ có nội dung chính trị, hay mọi hoạt động đối ngoại đều chỉ bảo vệ lợi ích giai cấp.</a:t>
            </a:r>
          </a:p>
          <a:p>
            <a:pPr>
              <a:spcAft>
                <a:spcPts val="600"/>
              </a:spcAft>
            </a:pPr>
            <a:r>
              <a:rPr lang="vi-VN" sz="1100" b="1"/>
              <a:t>TRÁNH NHẦM: Không đọc bốn ô như bốn chức năng độc lập. Hai trục không đồng nghĩa với nhau.</a:t>
            </a:r>
          </a:p>
          <a:p>
            <a:pPr>
              <a:spcAft>
                <a:spcPts val="600"/>
              </a:spcAft>
            </a:pPr>
            <a:r>
              <a:rPr lang="vi-VN" sz="1100"/>
              <a:t>ĐỐI CHIẾU: DOCX nguồn, mục 2.5; kế hoạch slide 7</a:t>
            </a:r>
          </a:p>
        </p:txBody>
      </p:sp>
      <p:sp>
        <p:nvSpPr>
          <p:cNvPr id="4" name="Slide Number Placeholder 3"/>
          <p:cNvSpPr>
            <a:spLocks noGrp="1"/>
          </p:cNvSpPr>
          <p:nvPr>
            <p:ph type="sldNum" sz="quarter" idx="5"/>
          </p:nvPr>
        </p:nvSpPr>
        <p:spPr/>
        <p:txBody>
          <a:bodyPr/>
          <a:lstStyle/>
          <a:p>
            <a:fld id="{99E40412-9FD5-43C9-818B-C2A6967EC543}" type="slidenum">
              <a:rPr lang="vi-VN" smtClean="0"/>
              <a:t>7</a:t>
            </a:fld>
            <a:endParaRPr lang="vi-VN"/>
          </a:p>
        </p:txBody>
      </p:sp>
    </p:spTree>
    <p:extLst>
      <p:ext uri="{BB962C8B-B14F-4D97-AF65-F5344CB8AC3E}">
        <p14:creationId xmlns:p14="http://schemas.microsoft.com/office/powerpoint/2010/main" val="2413127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08 | Quan hệ giữa chính trị và xã hội</a:t>
            </a:r>
          </a:p>
          <a:p>
            <a:pPr>
              <a:spcAft>
                <a:spcPts val="600"/>
              </a:spcAft>
            </a:pPr>
            <a:r>
              <a:rPr lang="vi-VN" sz="1100"/>
              <a:t>60 giây (mục tiêu diễn tập)</a:t>
            </a:r>
          </a:p>
          <a:p>
            <a:pPr>
              <a:spcAft>
                <a:spcPts val="600"/>
              </a:spcAft>
            </a:pPr>
            <a:r>
              <a:rPr lang="vi-VN" sz="1100" b="1"/>
              <a:t>NHẮC NHANH: Chính trị giữ vai trò định hướng ↔ xã hội duy trì điều kiện tồn tại và ổn định.</a:t>
            </a:r>
          </a:p>
          <a:p>
            <a:pPr>
              <a:spcAft>
                <a:spcPts val="600"/>
              </a:spcAft>
            </a:pPr>
            <a:r>
              <a:rPr lang="vi-VN" sz="1100" b="1"/>
              <a:t>LỜI THUYẾT TRÌNH:</a:t>
            </a:r>
          </a:p>
          <a:p>
            <a:pPr>
              <a:spcAft>
                <a:spcPts val="600"/>
              </a:spcAft>
            </a:pPr>
            <a:r>
              <a:rPr lang="vi-VN" sz="1100"/>
              <a:t>Một câu hỏi thường gặp là: nếu nhà nước có bản chất giai cấp, vì sao nhà nước vẫn thực hiện chức năng xã hội? Theo tài liệu, để duy trì trật tự và điều kiện tồn tại của xã hội, nhà nước phải tổ chức những công việc chung như giao thông, y tế, giáo dục và môi trường.</a:t>
            </a:r>
          </a:p>
          <a:p>
            <a:pPr>
              <a:spcAft>
                <a:spcPts val="600"/>
              </a:spcAft>
            </a:pPr>
            <a:r>
              <a:rPr lang="vi-VN" sz="1100"/>
              <a:t>Hai vòng tròn trên slide thể hiện quan hệ hữu cơ giữa hai chức năng. Chức năng thống trị chính trị giữ vai trò định hướng, còn việc thực hiện chức năng xã hội tạo điều kiện cho sự tồn tại và ổn định của nhà nước.</a:t>
            </a:r>
          </a:p>
          <a:p>
            <a:pPr>
              <a:spcAft>
                <a:spcPts val="600"/>
              </a:spcAft>
            </a:pPr>
            <a:r>
              <a:rPr lang="vi-VN" sz="1100"/>
              <a:t>Có thể lấy ví dụ minh họa từ chính nhóm công việc trong tài liệu: tổ chức giao thông và y tế giúp đời sống xã hội được duy trì, đồng thời tạo điều kiện cho bộ máy nhà nước thực hiện hoạt động quản lý. Ví dụ này giúp hình dung mối liên hệ, không phải một trường hợp chính sách cụ thể.</a:t>
            </a:r>
          </a:p>
          <a:p>
            <a:pPr>
              <a:spcAft>
                <a:spcPts val="600"/>
              </a:spcAft>
            </a:pPr>
            <a:r>
              <a:rPr lang="vi-VN" sz="1100"/>
              <a:t>Vì vậy, chúng ta không tách hai chức năng thành hai phần không liên quan, và cũng không kết luận rằng việc thực hiện chức năng xã hội làm mất đi bản chất giai cấp của nhà nước.</a:t>
            </a:r>
          </a:p>
          <a:p>
            <a:pPr>
              <a:spcAft>
                <a:spcPts val="600"/>
              </a:spcAft>
            </a:pPr>
            <a:r>
              <a:rPr lang="vi-VN" sz="1100" b="1"/>
              <a:t>CHUYỂN SLIDE: Đó là phân loại theo bản chất hoạt động. Tiếp theo, chúng ta chuyển sang phạm vi: đối nội và đối ngoại.</a:t>
            </a:r>
          </a:p>
          <a:p>
            <a:pPr>
              <a:spcAft>
                <a:spcPts val="600"/>
              </a:spcAft>
            </a:pPr>
            <a:r>
              <a:rPr lang="vi-VN" sz="1100" b="1"/>
              <a:t>ĐIỂM CẦN HIỂU: Mũi tên hai chiều diễn tả sự gắn bó giữa hai chức năng; không phủ nhận vai trò định hướng của chức năng thống trị chính trị mà tài liệu đã nêu.</a:t>
            </a:r>
          </a:p>
          <a:p>
            <a:pPr>
              <a:spcAft>
                <a:spcPts val="600"/>
              </a:spcAft>
            </a:pPr>
            <a:r>
              <a:rPr lang="vi-VN" sz="1100" b="1"/>
              <a:t>TRÁNH NHẦM: Không nói hai chức năng đối lập tuyệt đối, hoặc nói thực hiện công việc xã hội chứng minh nhà nước hoàn toàn trung lập.</a:t>
            </a:r>
          </a:p>
          <a:p>
            <a:pPr>
              <a:spcAft>
                <a:spcPts val="600"/>
              </a:spcAft>
            </a:pPr>
            <a:r>
              <a:rPr lang="vi-VN" sz="1100"/>
              <a:t>ĐỐI CHIẾU: DOCX nguồn, mục 2.5 và câu hỏi phản biện Q1; kế hoạch slide 8</a:t>
            </a:r>
          </a:p>
        </p:txBody>
      </p:sp>
      <p:sp>
        <p:nvSpPr>
          <p:cNvPr id="4" name="Slide Number Placeholder 3"/>
          <p:cNvSpPr>
            <a:spLocks noGrp="1"/>
          </p:cNvSpPr>
          <p:nvPr>
            <p:ph type="sldNum" sz="quarter" idx="5"/>
          </p:nvPr>
        </p:nvSpPr>
        <p:spPr/>
        <p:txBody>
          <a:bodyPr/>
          <a:lstStyle/>
          <a:p>
            <a:fld id="{99E40412-9FD5-43C9-818B-C2A6967EC543}" type="slidenum">
              <a:rPr lang="vi-VN" smtClean="0"/>
              <a:t>8</a:t>
            </a:fld>
            <a:endParaRPr lang="vi-VN"/>
          </a:p>
        </p:txBody>
      </p:sp>
    </p:spTree>
    <p:extLst>
      <p:ext uri="{BB962C8B-B14F-4D97-AF65-F5344CB8AC3E}">
        <p14:creationId xmlns:p14="http://schemas.microsoft.com/office/powerpoint/2010/main" val="3624174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09 | Đối nội và đối ngoại</a:t>
            </a:r>
          </a:p>
          <a:p>
            <a:pPr>
              <a:spcAft>
                <a:spcPts val="600"/>
              </a:spcAft>
            </a:pPr>
            <a:r>
              <a:rPr lang="vi-VN" sz="1100"/>
              <a:t>60 giây (mục tiêu diễn tập)</a:t>
            </a:r>
          </a:p>
          <a:p>
            <a:pPr>
              <a:spcAft>
                <a:spcPts val="600"/>
              </a:spcAft>
            </a:pPr>
            <a:r>
              <a:rPr lang="vi-VN" sz="1100" b="1"/>
              <a:t>NHẮC NHANH: Trong nước: tổ chức, quản lý. Bên ngoài: quan hệ, hợp tác, bảo vệ lợi ích. Hai mặt tác động qua lại.</a:t>
            </a:r>
          </a:p>
          <a:p>
            <a:pPr>
              <a:spcAft>
                <a:spcPts val="600"/>
              </a:spcAft>
            </a:pPr>
            <a:r>
              <a:rPr lang="vi-VN" sz="1100" b="1"/>
              <a:t>LỜI THUYẾT TRÌNH:</a:t>
            </a:r>
          </a:p>
          <a:p>
            <a:pPr>
              <a:spcAft>
                <a:spcPts val="600"/>
              </a:spcAft>
            </a:pPr>
            <a:r>
              <a:rPr lang="vi-VN" sz="1100"/>
              <a:t>Nếu xét theo phạm vi hoạt động, nhà nước có chức năng đối nội và đối ngoại. Đối nội là tổ chức và quản lý các lĩnh vực trong nước như chính trị, kinh tế, xã hội, y tế, giáo dục và văn hóa.</a:t>
            </a:r>
          </a:p>
          <a:p>
            <a:pPr>
              <a:spcAft>
                <a:spcPts val="600"/>
              </a:spcAft>
            </a:pPr>
            <a:r>
              <a:rPr lang="vi-VN" sz="1100"/>
              <a:t>Đối ngoại là thực hiện quan hệ với các chủ thể bên ngoài, bảo vệ lợi ích quốc gia và tham gia trao đổi, hợp tác quốc tế. Như vậy, đối ngoại không chỉ là một hoạt động đơn lẻ mà là một phạm vi hoạt động của nhà nước.</a:t>
            </a:r>
          </a:p>
          <a:p>
            <a:pPr>
              <a:spcAft>
                <a:spcPts val="600"/>
              </a:spcAft>
            </a:pPr>
            <a:r>
              <a:rPr lang="vi-VN" sz="1100"/>
              <a:t>Hai mặt này tác động qua lại. Để hình dung, có thể dùng ví dụ giả định: năng lực tổ chức giáo dục trong nước tạo điều kiện tham gia hợp tác giáo dục quốc tế; kết quả hợp tác lại có thể hỗ trợ hoạt động giáo dục trong nước.</a:t>
            </a:r>
          </a:p>
          <a:p>
            <a:pPr>
              <a:spcAft>
                <a:spcPts val="600"/>
              </a:spcAft>
            </a:pPr>
            <a:r>
              <a:rPr lang="vi-VN" sz="1100"/>
              <a:t>Sự phân định giữa các chức năng vì thế chỉ có tính tương đối. Cũng cần nhớ rằng đối nội và đối ngoại là tiêu chí về phạm vi; chúng không đồng nghĩa với thống trị chính trị và xã hội là tiêu chí về bản chất hoạt động.</a:t>
            </a:r>
          </a:p>
          <a:p>
            <a:pPr>
              <a:spcAft>
                <a:spcPts val="600"/>
              </a:spcAft>
            </a:pPr>
            <a:r>
              <a:rPr lang="vi-VN" sz="1100" b="1"/>
              <a:t>CHUYỂN SLIDE: Sau nguồn gốc, bản chất và cách vận hành, chúng ta chuyển sang sự biến đổi của các kiểu nhà nước trong lịch sử.</a:t>
            </a:r>
          </a:p>
          <a:p>
            <a:pPr>
              <a:spcAft>
                <a:spcPts val="600"/>
              </a:spcAft>
            </a:pPr>
            <a:r>
              <a:rPr lang="vi-VN" sz="1100" b="1"/>
              <a:t>ĐIỂM CẦN HIỂU: Ví dụ giáo dục chỉ dùng để diễn giải mối quan hệ hai chiều. Không giới hạn đối nội ở giáo dục hoặc giới hạn đối ngoại ở hợp tác giáo dục.</a:t>
            </a:r>
          </a:p>
          <a:p>
            <a:pPr>
              <a:spcAft>
                <a:spcPts val="600"/>
              </a:spcAft>
            </a:pPr>
            <a:r>
              <a:rPr lang="vi-VN" sz="1100" b="1"/>
              <a:t>TRÁNH NHẦM: Không ghép đối nội = chính trị và đối ngoại = xã hội.</a:t>
            </a:r>
          </a:p>
          <a:p>
            <a:pPr>
              <a:spcAft>
                <a:spcPts val="600"/>
              </a:spcAft>
            </a:pPr>
            <a:r>
              <a:rPr lang="vi-VN" sz="1100"/>
              <a:t>ĐỐI CHIẾU: DOCX nguồn, mục 2.5; kế hoạch slide 9</a:t>
            </a:r>
          </a:p>
        </p:txBody>
      </p:sp>
      <p:sp>
        <p:nvSpPr>
          <p:cNvPr id="4" name="Slide Number Placeholder 3"/>
          <p:cNvSpPr>
            <a:spLocks noGrp="1"/>
          </p:cNvSpPr>
          <p:nvPr>
            <p:ph type="sldNum" sz="quarter" idx="5"/>
          </p:nvPr>
        </p:nvSpPr>
        <p:spPr/>
        <p:txBody>
          <a:bodyPr/>
          <a:lstStyle/>
          <a:p>
            <a:fld id="{99E40412-9FD5-43C9-818B-C2A6967EC543}" type="slidenum">
              <a:rPr lang="vi-VN" smtClean="0"/>
              <a:t>9</a:t>
            </a:fld>
            <a:endParaRPr lang="vi-VN"/>
          </a:p>
        </p:txBody>
      </p:sp>
    </p:spTree>
    <p:extLst>
      <p:ext uri="{BB962C8B-B14F-4D97-AF65-F5344CB8AC3E}">
        <p14:creationId xmlns:p14="http://schemas.microsoft.com/office/powerpoint/2010/main" val="436285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10 | Các kiểu nhà nước</a:t>
            </a:r>
          </a:p>
          <a:p>
            <a:pPr>
              <a:spcAft>
                <a:spcPts val="600"/>
              </a:spcAft>
            </a:pPr>
            <a:r>
              <a:rPr lang="vi-VN" sz="1100"/>
              <a:t>75 giây (mục tiêu diễn tập)</a:t>
            </a:r>
          </a:p>
          <a:p>
            <a:pPr>
              <a:spcAft>
                <a:spcPts val="600"/>
              </a:spcAft>
            </a:pPr>
            <a:r>
              <a:rPr lang="vi-VN" sz="1100" b="1"/>
              <a:t>NHẮC NHANH: Chủ nô → phong kiến → tư sản → vô sản; tiêu chí là cơ sở giai cấp và điều kiện kinh tế - xã hội.</a:t>
            </a:r>
          </a:p>
          <a:p>
            <a:pPr>
              <a:spcAft>
                <a:spcPts val="600"/>
              </a:spcAft>
            </a:pPr>
            <a:r>
              <a:rPr lang="vi-VN" sz="1100" b="1"/>
              <a:t>LỜI THUYẾT TRÌNH:</a:t>
            </a:r>
          </a:p>
          <a:p>
            <a:pPr>
              <a:spcAft>
                <a:spcPts val="600"/>
              </a:spcAft>
            </a:pPr>
            <a:r>
              <a:rPr lang="vi-VN" sz="1100"/>
              <a:t>Theo cách phân loại trong tài liệu, các kiểu nhà nước được trình bày gồm nhà nước chủ nô, phong kiến, tư sản và vô sản. Điểm phân biệt giữa các kiểu nằm chủ yếu ở cơ sở giai cấp và điều kiện kinh tế - xã hội.</a:t>
            </a:r>
          </a:p>
          <a:p>
            <a:pPr>
              <a:spcAft>
                <a:spcPts val="600"/>
              </a:spcAft>
            </a:pPr>
            <a:r>
              <a:rPr lang="vi-VN" sz="1100"/>
              <a:t>Vì vậy, khi nói đến kiểu nhà nước, chúng ta không chỉ hỏi bộ máy mang tên gì hay có hình dáng tổ chức ra sao. Câu hỏi quan trọng là kiểu nhà nước đó gắn với cơ sở giai cấp và điều kiện lịch sử nào.</a:t>
            </a:r>
          </a:p>
          <a:p>
            <a:pPr>
              <a:spcAft>
                <a:spcPts val="600"/>
              </a:spcAft>
            </a:pPr>
            <a:r>
              <a:rPr lang="vi-VN" sz="1100"/>
              <a:t>Bốn mốc trên slide là khung phân loại của giáo trình. Không nên hiểu thành một lịch trình bắt buộc mà mọi quốc gia đều trải qua đầy đủ và giống nhau.</a:t>
            </a:r>
          </a:p>
          <a:p>
            <a:pPr>
              <a:spcAft>
                <a:spcPts val="600"/>
              </a:spcAft>
            </a:pPr>
            <a:r>
              <a:rPr lang="vi-VN" sz="1100"/>
              <a:t>Riêng phần nhà nước vô sản, DOCX nguồn còn nhấn mạnh ba ý cần nói thêm: liên minh với các lực lượng lao động; thực hiện chức năng tổ chức, xây dựng xã hội mới đồng thời với chức năng trấn áp lực lượng chống đối; và hướng tới phát triển dân chủ. Đây là nội dung quan trọng mà chỉ đọc tên 'vô sản' trên slide sẽ chưa truyền đạt đủ.</a:t>
            </a:r>
          </a:p>
          <a:p>
            <a:pPr>
              <a:spcAft>
                <a:spcPts val="600"/>
              </a:spcAft>
            </a:pPr>
            <a:r>
              <a:rPr lang="vi-VN" sz="1100"/>
              <a:t>Tóm lại, 'kiểu' nói về cơ sở giai cấp và điều kiện kinh tế - xã hội. Cách tổ chức, thực hiện quyền lực thuộc một khái niệm khác: hình thức nhà nước.</a:t>
            </a:r>
          </a:p>
          <a:p>
            <a:pPr>
              <a:spcAft>
                <a:spcPts val="600"/>
              </a:spcAft>
            </a:pPr>
            <a:r>
              <a:rPr lang="vi-VN" sz="1100" b="1"/>
              <a:t>CHUYỂN SLIDE: Chính sự khác nhau đó dẫn chúng ta sang slide tiếp theo: cùng một kiểu có thể có nhiều hình thức hay không?</a:t>
            </a:r>
          </a:p>
          <a:p>
            <a:pPr>
              <a:spcAft>
                <a:spcPts val="600"/>
              </a:spcAft>
            </a:pPr>
            <a:r>
              <a:rPr lang="vi-VN" sz="1100" b="1"/>
              <a:t>ĐIỂM CẦN HIỂU: Các nội dung về nhà nước vô sản được bổ sung từ chính mục 2.6 của DOCX. Bài nói không tự mở rộng thành một hệ thống chi tiết về từng kiểu khi tài liệu nguồn chưa triển khai.</a:t>
            </a:r>
          </a:p>
          <a:p>
            <a:pPr>
              <a:spcAft>
                <a:spcPts val="600"/>
              </a:spcAft>
            </a:pPr>
            <a:r>
              <a:rPr lang="vi-VN" sz="1100" b="1"/>
              <a:t>TRÁNH NHẦM: Không khẳng định mọi quốc gia bắt buộc đi qua đủ bốn kiểu, và không thu hẹp nhà nước vô sản vào riêng hoạt động trấn áp.</a:t>
            </a:r>
          </a:p>
          <a:p>
            <a:pPr>
              <a:spcAft>
                <a:spcPts val="600"/>
              </a:spcAft>
            </a:pPr>
            <a:r>
              <a:rPr lang="vi-VN" sz="1100"/>
              <a:t>ĐỐI CHIẾU: DOCX nguồn, mục 2.6; kế hoạch slide 10</a:t>
            </a:r>
          </a:p>
        </p:txBody>
      </p:sp>
      <p:sp>
        <p:nvSpPr>
          <p:cNvPr id="4" name="Slide Number Placeholder 3"/>
          <p:cNvSpPr>
            <a:spLocks noGrp="1"/>
          </p:cNvSpPr>
          <p:nvPr>
            <p:ph type="sldNum" sz="quarter" idx="5"/>
          </p:nvPr>
        </p:nvSpPr>
        <p:spPr/>
        <p:txBody>
          <a:bodyPr/>
          <a:lstStyle/>
          <a:p>
            <a:fld id="{99E40412-9FD5-43C9-818B-C2A6967EC543}" type="slidenum">
              <a:rPr lang="vi-VN" smtClean="0"/>
              <a:t>10</a:t>
            </a:fld>
            <a:endParaRPr lang="vi-VN"/>
          </a:p>
        </p:txBody>
      </p:sp>
    </p:spTree>
    <p:extLst>
      <p:ext uri="{BB962C8B-B14F-4D97-AF65-F5344CB8AC3E}">
        <p14:creationId xmlns:p14="http://schemas.microsoft.com/office/powerpoint/2010/main" val="3603291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11 | Kiểu khác hình thức</a:t>
            </a:r>
          </a:p>
          <a:p>
            <a:pPr>
              <a:spcAft>
                <a:spcPts val="600"/>
              </a:spcAft>
            </a:pPr>
            <a:r>
              <a:rPr lang="vi-VN" sz="1100"/>
              <a:t>60 giây (mục tiêu diễn tập)</a:t>
            </a:r>
          </a:p>
          <a:p>
            <a:pPr>
              <a:spcAft>
                <a:spcPts val="600"/>
              </a:spcAft>
            </a:pPr>
            <a:r>
              <a:rPr lang="vi-VN" sz="1100" b="1"/>
              <a:t>NHẮC NHANH: Kiểu = cơ sở giai cấp, điều kiện kinh tế - xã hội. Hình thức = tổ chức, thực hiện quyền lực.</a:t>
            </a:r>
          </a:p>
          <a:p>
            <a:pPr>
              <a:spcAft>
                <a:spcPts val="600"/>
              </a:spcAft>
            </a:pPr>
            <a:r>
              <a:rPr lang="vi-VN" sz="1100" b="1"/>
              <a:t>LỜI THUYẾT TRÌNH:</a:t>
            </a:r>
          </a:p>
          <a:p>
            <a:pPr>
              <a:spcAft>
                <a:spcPts val="600"/>
              </a:spcAft>
            </a:pPr>
            <a:r>
              <a:rPr lang="vi-VN" sz="1100"/>
              <a:t>Ở phần này, chúng ta cần phân biệt hai khái niệm dễ nhầm. Kiểu nhà nước nhấn mạnh cơ sở giai cấp và điều kiện kinh tế - xã hội. Hình thức nhà nước nhấn mạnh cách tổ chức và phương thức thực hiện quyền lực.</a:t>
            </a:r>
          </a:p>
          <a:p>
            <a:pPr>
              <a:spcAft>
                <a:spcPts val="600"/>
              </a:spcAft>
            </a:pPr>
            <a:r>
              <a:rPr lang="vi-VN" sz="1100"/>
              <a:t>Cây phân nhánh trên slide minh họa một trường hợp theo tài liệu: trong kiểu nhà nước tư sản có thể có các dạng cộng hòa hoặc quân chủ lập hiến. Như vậy, cùng một kiểu không có nghĩa mọi nhà nước phải có một hình thức tổ chức giống nhau.</a:t>
            </a:r>
          </a:p>
          <a:p>
            <a:pPr>
              <a:spcAft>
                <a:spcPts val="600"/>
              </a:spcAft>
            </a:pPr>
            <a:r>
              <a:rPr lang="vi-VN" sz="1100"/>
              <a:t>DOCX còn nêu các ví dụ khác: ở xã hội chủ nô có quân chủ và các dạng cộng hòa; ở phong kiến có tập quyền và phân quyền. Những ví dụ này giúp hình dung tính đa dạng của cách tổ chức quyền lực theo bối cảnh lịch sử, tương quan lực lượng, văn hóa và truyền thống.</a:t>
            </a:r>
          </a:p>
          <a:p>
            <a:pPr>
              <a:spcAft>
                <a:spcPts val="600"/>
              </a:spcAft>
            </a:pPr>
            <a:r>
              <a:rPr lang="vi-VN" sz="1100"/>
              <a:t>Chúng ta không cần biến các ví dụ thành một danh sách dài. Câu chốt cần nhớ là: kiểu nhà nước và hình thức nhà nước không đồng nghĩa; một kiểu có thể biểu hiện bằng nhiều hình thức.</a:t>
            </a:r>
          </a:p>
          <a:p>
            <a:pPr>
              <a:spcAft>
                <a:spcPts val="600"/>
              </a:spcAft>
            </a:pPr>
            <a:r>
              <a:rPr lang="vi-VN" sz="1100" b="1"/>
              <a:t>CHUYỂN SLIDE: Từ những khái niệm chung đó, tài liệu chuyển sang liên hệ xây dựng nhà nước ở Việt Nam.</a:t>
            </a:r>
          </a:p>
          <a:p>
            <a:pPr>
              <a:spcAft>
                <a:spcPts val="600"/>
              </a:spcAft>
            </a:pPr>
            <a:r>
              <a:rPr lang="vi-VN" sz="1100" b="1"/>
              <a:t>ĐIỂM CẦN HIỂU: Cây trên slide là một ví dụ để phân biệt khái niệm, không phải sơ đồ đầy đủ mọi hình thức nhà nước. Quân chủ/cộng hòa và tập quyền/phân quyền là những cách nhìn về tổ chức quyền lực được DOCX sử dụng làm ví dụ.</a:t>
            </a:r>
          </a:p>
          <a:p>
            <a:pPr>
              <a:spcAft>
                <a:spcPts val="600"/>
              </a:spcAft>
            </a:pPr>
            <a:r>
              <a:rPr lang="vi-VN" sz="1100" b="1"/>
              <a:t>TRÁNH NHẦM: Không dùng 'tư sản' và 'cộng hòa' như hai tên thay thế cho cùng một khái niệm.</a:t>
            </a:r>
          </a:p>
          <a:p>
            <a:pPr>
              <a:spcAft>
                <a:spcPts val="600"/>
              </a:spcAft>
            </a:pPr>
            <a:r>
              <a:rPr lang="vi-VN" sz="1100"/>
              <a:t>ĐỐI CHIẾU: DOCX nguồn, mục 2.6 và câu hỏi phản biện Q3; kế hoạch slide 11</a:t>
            </a:r>
          </a:p>
        </p:txBody>
      </p:sp>
      <p:sp>
        <p:nvSpPr>
          <p:cNvPr id="4" name="Slide Number Placeholder 3"/>
          <p:cNvSpPr>
            <a:spLocks noGrp="1"/>
          </p:cNvSpPr>
          <p:nvPr>
            <p:ph type="sldNum" sz="quarter" idx="5"/>
          </p:nvPr>
        </p:nvSpPr>
        <p:spPr/>
        <p:txBody>
          <a:bodyPr/>
          <a:lstStyle/>
          <a:p>
            <a:fld id="{99E40412-9FD5-43C9-818B-C2A6967EC543}" type="slidenum">
              <a:rPr lang="vi-VN" smtClean="0"/>
              <a:t>11</a:t>
            </a:fld>
            <a:endParaRPr lang="vi-VN"/>
          </a:p>
        </p:txBody>
      </p:sp>
    </p:spTree>
    <p:extLst>
      <p:ext uri="{BB962C8B-B14F-4D97-AF65-F5344CB8AC3E}">
        <p14:creationId xmlns:p14="http://schemas.microsoft.com/office/powerpoint/2010/main" val="2450216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12 | Việt Nam - theo giáo trình 2019</a:t>
            </a:r>
          </a:p>
          <a:p>
            <a:pPr>
              <a:spcAft>
                <a:spcPts val="600"/>
              </a:spcAft>
            </a:pPr>
            <a:r>
              <a:rPr lang="vi-VN" sz="1100"/>
              <a:t>75 giây (mục tiêu diễn tập)</a:t>
            </a:r>
          </a:p>
          <a:p>
            <a:pPr>
              <a:spcAft>
                <a:spcPts val="600"/>
              </a:spcAft>
            </a:pPr>
            <a:r>
              <a:rPr lang="vi-VN" sz="1100" b="1"/>
              <a:t>NHẮC NHANH: Đảng lãnh đạo - Nhà nước quản lý - Nhân dân làm chủ; dân chủ, pháp quyền và các trọng tâm quản trị.</a:t>
            </a:r>
          </a:p>
          <a:p>
            <a:pPr>
              <a:spcAft>
                <a:spcPts val="600"/>
              </a:spcAft>
            </a:pPr>
            <a:r>
              <a:rPr lang="vi-VN" sz="1100" b="1"/>
              <a:t>LỜI THUYẾT TRÌNH:</a:t>
            </a:r>
          </a:p>
          <a:p>
            <a:pPr>
              <a:spcAft>
                <a:spcPts val="600"/>
              </a:spcAft>
            </a:pPr>
            <a:r>
              <a:rPr lang="vi-VN" sz="1100"/>
              <a:t>Phần liên hệ Việt Nam được trình bày theo giáo trình năm 2019, đúng phạm vi của tài liệu nhóm sử dụng. Nội dung tập trung vào định hướng xây dựng Nhà nước pháp quyền xã hội chủ nghĩa.</a:t>
            </a:r>
          </a:p>
          <a:p>
            <a:pPr>
              <a:spcAft>
                <a:spcPts val="600"/>
              </a:spcAft>
            </a:pPr>
            <a:r>
              <a:rPr lang="vi-VN" sz="1100"/>
              <a:t>Ba vế bên trái slide là nguyên tắc được tài liệu nhấn mạnh: Đảng lãnh đạo, Nhà nước quản lý, nhân dân làm chủ. Khi trình bày, chúng ta cần nói đủ cả ba vế để giữ đúng cấu trúc ý của tài liệu.</a:t>
            </a:r>
          </a:p>
          <a:p>
            <a:pPr>
              <a:spcAft>
                <a:spcPts val="600"/>
              </a:spcAft>
            </a:pPr>
            <a:r>
              <a:rPr lang="vi-VN" sz="1100"/>
              <a:t>Bên phải là các trọng tâm: dân chủ và pháp quyền; cải cách hành chính, tinh gọn bộ máy; công khai, minh bạch; phòng, chống tham nhũng và lãng phí. Có thể diễn giải ngắn rằng đây là những phương diện tài liệu đặt ra khi bàn về tổ chức và hoạt động quản lý nhà nước.</a:t>
            </a:r>
          </a:p>
          <a:p>
            <a:pPr>
              <a:spcAft>
                <a:spcPts val="600"/>
              </a:spcAft>
            </a:pPr>
            <a:r>
              <a:rPr lang="vi-VN" sz="1100"/>
              <a:t>Slide này là phần liên hệ của nội dung lý luận, không phải bản báo cáo đánh giá kết quả thực hiện từng trọng tâm. Nhóm cũng không dùng các ý từ giáo trình 2019 để khẳng định một chính sách hoặc một quy định pháp luật hiện hành khi chưa có nguồn cập nhật.</a:t>
            </a:r>
          </a:p>
          <a:p>
            <a:pPr>
              <a:spcAft>
                <a:spcPts val="600"/>
              </a:spcAft>
            </a:pPr>
            <a:r>
              <a:rPr lang="vi-VN" sz="1100"/>
              <a:t>Điểm cần ghi nhớ là: giữ đúng nguyên tắc và các trọng tâm trong tài liệu, đồng thời nêu rõ mốc giáo trình năm 2019.</a:t>
            </a:r>
          </a:p>
          <a:p>
            <a:pPr>
              <a:spcAft>
                <a:spcPts val="600"/>
              </a:spcAft>
            </a:pPr>
            <a:r>
              <a:rPr lang="vi-VN" sz="1100" b="1"/>
              <a:t>CHUYỂN SLIDE: Đến đây, chúng ta đã đi hết mạch bài. Nhóm xin tổng kết lại bằng năm từ khóa.</a:t>
            </a:r>
          </a:p>
          <a:p>
            <a:pPr>
              <a:spcAft>
                <a:spcPts val="600"/>
              </a:spcAft>
            </a:pPr>
            <a:r>
              <a:rPr lang="vi-VN" sz="1100" b="1"/>
              <a:t>ĐIỂM CẦN HIỂU: Nhãn 'theo giáo trình 2019' xác định mốc nguồn. Nếu có câu hỏi về chính sách hiện thời, tách câu hỏi đó khỏi phạm vi bài và chỉ trả lời khi có nguồn đã kiểm chứng.</a:t>
            </a:r>
          </a:p>
          <a:p>
            <a:pPr>
              <a:spcAft>
                <a:spcPts val="600"/>
              </a:spcAft>
            </a:pPr>
            <a:r>
              <a:rPr lang="vi-VN" sz="1100" b="1"/>
              <a:t>TRÁNH NHẦM: Không biến định hướng trong tài liệu thành khẳng định rằng mọi mục tiêu đã được hoàn thành.</a:t>
            </a:r>
          </a:p>
          <a:p>
            <a:pPr>
              <a:spcAft>
                <a:spcPts val="600"/>
              </a:spcAft>
            </a:pPr>
            <a:r>
              <a:rPr lang="vi-VN" sz="1100"/>
              <a:t>ĐỐI CHIẾU: DOCX nguồn, mục 2.7; kế hoạch slide 12</a:t>
            </a:r>
          </a:p>
        </p:txBody>
      </p:sp>
      <p:sp>
        <p:nvSpPr>
          <p:cNvPr id="4" name="Slide Number Placeholder 3"/>
          <p:cNvSpPr>
            <a:spLocks noGrp="1"/>
          </p:cNvSpPr>
          <p:nvPr>
            <p:ph type="sldNum" sz="quarter" idx="5"/>
          </p:nvPr>
        </p:nvSpPr>
        <p:spPr/>
        <p:txBody>
          <a:bodyPr/>
          <a:lstStyle/>
          <a:p>
            <a:fld id="{99E40412-9FD5-43C9-818B-C2A6967EC543}" type="slidenum">
              <a:rPr lang="vi-VN" smtClean="0"/>
              <a:t>12</a:t>
            </a:fld>
            <a:endParaRPr lang="vi-VN"/>
          </a:p>
        </p:txBody>
      </p:sp>
    </p:spTree>
    <p:extLst>
      <p:ext uri="{BB962C8B-B14F-4D97-AF65-F5344CB8AC3E}">
        <p14:creationId xmlns:p14="http://schemas.microsoft.com/office/powerpoint/2010/main" val="1038458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13 | Kết luận - năm từ khóa</a:t>
            </a:r>
          </a:p>
          <a:p>
            <a:pPr>
              <a:spcAft>
                <a:spcPts val="600"/>
              </a:spcAft>
            </a:pPr>
            <a:r>
              <a:rPr lang="vi-VN" sz="1100"/>
              <a:t>45 giây (mục tiêu diễn tập)</a:t>
            </a:r>
          </a:p>
          <a:p>
            <a:pPr>
              <a:spcAft>
                <a:spcPts val="600"/>
              </a:spcAft>
            </a:pPr>
            <a:r>
              <a:rPr lang="vi-VN" sz="1100" b="1"/>
              <a:t>NHẮC NHANH: Nguồn gốc - bản chất - đặc trưng - chức năng - kiểu và hình thức.</a:t>
            </a:r>
          </a:p>
          <a:p>
            <a:pPr>
              <a:spcAft>
                <a:spcPts val="600"/>
              </a:spcAft>
            </a:pPr>
            <a:r>
              <a:rPr lang="vi-VN" sz="1100" b="1"/>
              <a:t>LỜI THUYẾT TRÌNH:</a:t>
            </a:r>
          </a:p>
          <a:p>
            <a:pPr>
              <a:spcAft>
                <a:spcPts val="600"/>
              </a:spcAft>
            </a:pPr>
            <a:r>
              <a:rPr lang="vi-VN" sz="1100"/>
              <a:t>Bài hôm nay có thể nhớ bằng năm từ khóa. Nguồn gốc: phân hóa giai cấp và mâu thuẫn không thể điều hòa gắn với sự xuất hiện của nhà nước. Bản chất: quyền lực nhà nước gắn với lợi ích giai cấp.</a:t>
            </a:r>
          </a:p>
          <a:p>
            <a:pPr>
              <a:spcAft>
                <a:spcPts val="600"/>
              </a:spcAft>
            </a:pPr>
            <a:r>
              <a:rPr lang="vi-VN" sz="1100"/>
              <a:t>Đặc trưng: quản lý dân cư theo lãnh thổ, bộ máy quyền lực công cộng chuyên nghiệp và thuế khóa. Chức năng: hai cách phân loại song song, gồm thống trị chính trị với xã hội, và đối nội với đối ngoại.</a:t>
            </a:r>
          </a:p>
          <a:p>
            <a:pPr>
              <a:spcAft>
                <a:spcPts val="600"/>
              </a:spcAft>
            </a:pPr>
            <a:r>
              <a:rPr lang="vi-VN" sz="1100"/>
              <a:t>Cuối cùng là kiểu và hình thức. Kiểu nhấn mạnh cơ sở giai cấp và điều kiện kinh tế - xã hội; hình thức nhấn mạnh cách tổ chức và thực hiện quyền lực. Dù thẻ cuối trên slide viết gọn là 'Hình thức', chúng ta cần nhắc đủ cả hai khái niệm để khép lại toàn bộ mạch bài.</a:t>
            </a:r>
          </a:p>
          <a:p>
            <a:pPr>
              <a:spcAft>
                <a:spcPts val="600"/>
              </a:spcAft>
            </a:pPr>
            <a:r>
              <a:rPr lang="vi-VN" sz="1100" b="1"/>
              <a:t>CHUYỂN SLIDE: Nhóm xin cảm ơn thầy cô và các bạn. Sau đây là hai câu hỏi để cùng trao đổi.</a:t>
            </a:r>
          </a:p>
          <a:p>
            <a:pPr>
              <a:spcAft>
                <a:spcPts val="600"/>
              </a:spcAft>
            </a:pPr>
            <a:r>
              <a:rPr lang="vi-VN" sz="1100" b="1"/>
              <a:t>ĐIỂM CẦN HIỂU: Năm thẻ là khung nhớ nhanh, không thay thế nội dung phân tích. Phần kiểu nhà nước vẫn phải được nhắc trong kết luận dù nhãn thẻ cuối đang rút gọn.</a:t>
            </a:r>
          </a:p>
          <a:p>
            <a:pPr>
              <a:spcAft>
                <a:spcPts val="600"/>
              </a:spcAft>
            </a:pPr>
            <a:r>
              <a:rPr lang="vi-VN" sz="1100" b="1"/>
              <a:t>TRÁNH NHẦM: Không kết bài chỉ bằng việc đọc tên năm thẻ; mỗi thẻ cần một câu chốt.</a:t>
            </a:r>
          </a:p>
          <a:p>
            <a:pPr>
              <a:spcAft>
                <a:spcPts val="600"/>
              </a:spcAft>
            </a:pPr>
            <a:r>
              <a:rPr lang="vi-VN" sz="1100"/>
              <a:t>ĐỐI CHIẾU: DOCX nguồn, mục 1, 2 và kế hoạch slide 13</a:t>
            </a:r>
          </a:p>
        </p:txBody>
      </p:sp>
      <p:sp>
        <p:nvSpPr>
          <p:cNvPr id="4" name="Slide Number Placeholder 3"/>
          <p:cNvSpPr>
            <a:spLocks noGrp="1"/>
          </p:cNvSpPr>
          <p:nvPr>
            <p:ph type="sldNum" sz="quarter" idx="5"/>
          </p:nvPr>
        </p:nvSpPr>
        <p:spPr/>
        <p:txBody>
          <a:bodyPr/>
          <a:lstStyle/>
          <a:p>
            <a:fld id="{99E40412-9FD5-43C9-818B-C2A6967EC543}" type="slidenum">
              <a:rPr lang="vi-VN" smtClean="0"/>
              <a:t>13</a:t>
            </a:fld>
            <a:endParaRPr lang="vi-VN"/>
          </a:p>
        </p:txBody>
      </p:sp>
    </p:spTree>
    <p:extLst>
      <p:ext uri="{BB962C8B-B14F-4D97-AF65-F5344CB8AC3E}">
        <p14:creationId xmlns:p14="http://schemas.microsoft.com/office/powerpoint/2010/main" val="3827555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vi-VN" sz="1100" b="1"/>
              <a:t>SLIDE 14 | Thảo luận và phản biện</a:t>
            </a:r>
          </a:p>
          <a:p>
            <a:pPr>
              <a:spcAft>
                <a:spcPts val="600"/>
              </a:spcAft>
            </a:pPr>
            <a:r>
              <a:rPr lang="vi-VN" sz="1100"/>
              <a:t>Hỏi đáp: tùy thời gian lớp</a:t>
            </a:r>
          </a:p>
          <a:p>
            <a:pPr>
              <a:spcAft>
                <a:spcPts val="600"/>
              </a:spcAft>
            </a:pPr>
            <a:r>
              <a:rPr lang="vi-VN" sz="1100" b="1"/>
              <a:t>NHẮC NHANH: Câu 1: giai cấp và chức năng xã hội. Câu 2: kiểu và hình thức. Trả lời theo tiêu chí, rồi nêu ví dụ.</a:t>
            </a:r>
          </a:p>
          <a:p>
            <a:pPr>
              <a:spcAft>
                <a:spcPts val="600"/>
              </a:spcAft>
            </a:pPr>
            <a:r>
              <a:rPr lang="vi-VN" sz="1100" b="1"/>
              <a:t>LỜI THUYẾT TRÌNH:</a:t>
            </a:r>
          </a:p>
          <a:p>
            <a:pPr>
              <a:spcAft>
                <a:spcPts val="600"/>
              </a:spcAft>
            </a:pPr>
            <a:r>
              <a:rPr lang="vi-VN" sz="1100"/>
              <a:t>Nhóm xin mời thầy cô và các bạn cùng trao đổi hai câu hỏi. Câu thứ nhất: nếu nhà nước có bản chất giai cấp, vì sao nhà nước vẫn thực hiện chức năng xã hội? Câu thứ hai: cùng một kiểu nhà nước có thể có nhiều hình thức hay không?</a:t>
            </a:r>
          </a:p>
          <a:p>
            <a:pPr>
              <a:spcAft>
                <a:spcPts val="600"/>
              </a:spcAft>
            </a:pPr>
            <a:r>
              <a:rPr lang="vi-VN" sz="1100"/>
              <a:t>Nếu cần gợi ý cho câu thứ nhất, chúng ta quay lại quan hệ hữu cơ giữa hai chức năng. Để duy trì trật tự và điều kiện tồn tại của xã hội, nhà nước phải tổ chức các công việc chung. Chức năng thống trị chính trị giữ vai trò định hướng, còn chức năng xã hội tạo điều kiện cho sự tồn tại và ổn định của nhà nước. Hai ý này không mâu thuẫn với luận điểm về bản chất giai cấp.</a:t>
            </a:r>
          </a:p>
          <a:p>
            <a:pPr>
              <a:spcAft>
                <a:spcPts val="600"/>
              </a:spcAft>
            </a:pPr>
            <a:r>
              <a:rPr lang="vi-VN" sz="1100"/>
              <a:t>Với câu thứ hai, câu trả lời là có. Kiểu nhà nước xét cơ sở giai cấp và điều kiện kinh tế - xã hội, còn hình thức xét cách tổ chức, thực hiện quyền lực. Ví dụ theo tài liệu là kiểu nhà nước tư sản có thể có các dạng cộng hòa hoặc quân chủ lập hiến.</a:t>
            </a:r>
          </a:p>
          <a:p>
            <a:pPr>
              <a:spcAft>
                <a:spcPts val="600"/>
              </a:spcAft>
            </a:pPr>
            <a:r>
              <a:rPr lang="vi-VN" sz="1100"/>
              <a:t>Khi có ý kiến phản biện, nhóm sẽ xác định câu hỏi đang thuộc nguồn gốc, bản chất, đặc trưng, chức năng hay kiểu và hình thức, rồi trả lời theo đúng tiêu chí đó. Nhóm xin cảm ơn các câu hỏi và góp ý.</a:t>
            </a:r>
          </a:p>
          <a:p>
            <a:pPr>
              <a:spcAft>
                <a:spcPts val="600"/>
              </a:spcAft>
            </a:pPr>
            <a:r>
              <a:rPr lang="vi-VN" sz="1100" b="1"/>
              <a:t>CHUYỂN SLIDE: Sau phần trao đổi: cảm ơn thầy cô và các bạn đã lắng nghe và góp ý cho nhóm 7.</a:t>
            </a:r>
          </a:p>
          <a:p>
            <a:pPr>
              <a:spcAft>
                <a:spcPts val="600"/>
              </a:spcAft>
            </a:pPr>
            <a:r>
              <a:rPr lang="vi-VN" sz="1100" b="1"/>
              <a:t>ĐIỂM CẦN HIỂU: Lúc trình bày thật, đọc câu hỏi rồi dành khoảng dừng để người nghe trả lời. Phần đáp án trong kịch bản là nội dung chuẩn bị, không cần đọc ngay toàn bộ.</a:t>
            </a:r>
          </a:p>
          <a:p>
            <a:pPr>
              <a:spcAft>
                <a:spcPts val="600"/>
              </a:spcAft>
            </a:pPr>
            <a:r>
              <a:rPr lang="vi-VN" sz="1100" b="1"/>
              <a:t>TRÁNH NHẦM: Không đọc đáp án ngay sau câu hỏi nếu đang mời cả lớp thảo luận.</a:t>
            </a:r>
          </a:p>
          <a:p>
            <a:pPr>
              <a:spcAft>
                <a:spcPts val="600"/>
              </a:spcAft>
            </a:pPr>
            <a:r>
              <a:rPr lang="vi-VN" sz="1100"/>
              <a:t>ĐỐI CHIẾU: DOCX nguồn, mục 7, câu hỏi Q1-Q4; kế hoạch slide 14</a:t>
            </a:r>
          </a:p>
          <a:p>
            <a:pPr>
              <a:spcAft>
                <a:spcPts val="600"/>
              </a:spcAft>
            </a:pPr>
            <a:r>
              <a:rPr lang="vi-VN" sz="1100" b="1"/>
              <a:t>CÂU HỎI DỰ PHÒNG - CHỈ DÙNG KHI ĐƯỢC HỎI:</a:t>
            </a:r>
          </a:p>
          <a:p>
            <a:pPr>
              <a:spcAft>
                <a:spcPts val="600"/>
              </a:spcAft>
            </a:pPr>
            <a:r>
              <a:rPr lang="vi-VN" sz="1100"/>
              <a:t>Ba đặc trưng khác chức năng nhà nước thế nào?</a:t>
            </a:r>
          </a:p>
          <a:p>
            <a:pPr>
              <a:spcAft>
                <a:spcPts val="600"/>
              </a:spcAft>
            </a:pPr>
            <a:r>
              <a:rPr lang="vi-VN" sz="1100"/>
              <a:t>Đặc trưng là những dấu hiệu cấu trúc giúp nhận diện nhà nước: lãnh thổ, bộ máy quyền lực công cộng chuyên nghiệp, thuế khóa. Chức năng là những phương diện hoạt động nhà nước thực hiện. Ví dụ giáo dục là một hoạt động của chức năng xã hội, không phải một đặc trưng cấu trúc.</a:t>
            </a:r>
          </a:p>
          <a:p>
            <a:pPr>
              <a:spcAft>
                <a:spcPts val="600"/>
              </a:spcAft>
            </a:pPr>
            <a:r>
              <a:rPr lang="vi-VN" sz="1100"/>
              <a:t>Vì sao không phải mọi xung đột đều dẫn đến nhà nước?</a:t>
            </a:r>
          </a:p>
          <a:p>
            <a:pPr>
              <a:spcAft>
                <a:spcPts val="600"/>
              </a:spcAft>
            </a:pPr>
            <a:r>
              <a:rPr lang="vi-VN" sz="1100"/>
              <a:t>Theo logic DOCX, luận điểm về nguồn gốc gắn với những điều kiện kinh tế - xã hội nhất định, sự phân hóa thành các giai cấp đối lập và mâu thuẫn giai cấp không thể điều hòa bằng cơ chế tự quản cũ. Không rút gọn thành 'có bất đồng là có nhà nước'.</a:t>
            </a:r>
          </a:p>
          <a:p>
            <a:pPr>
              <a:spcAft>
                <a:spcPts val="600"/>
              </a:spcAft>
            </a:pPr>
            <a:r>
              <a:rPr lang="vi-VN" sz="1100"/>
              <a:t>Độc lập tương đối có phủ nhận bản chất giai cấp không?</a:t>
            </a:r>
          </a:p>
          <a:p>
            <a:pPr>
              <a:spcAft>
                <a:spcPts val="600"/>
              </a:spcAft>
            </a:pPr>
            <a:r>
              <a:rPr lang="vi-VN" sz="1100"/>
              <a:t>Không. DOCX nêu khả năng bộ máy có mức độ độc lập tương đối ở một số thời kỳ khi tương quan lực lượng giữa các giai cấp gần cân bằng. Tính tương đối và điều kiện lịch sử phải được giữ lại; không đổi thành sự độc lập tuyệt đối khỏi quan hệ giai cấp.</a:t>
            </a:r>
          </a:p>
          <a:p>
            <a:pPr>
              <a:spcAft>
                <a:spcPts val="600"/>
              </a:spcAft>
            </a:pPr>
            <a:r>
              <a:rPr lang="vi-VN" sz="1100"/>
              <a:t>Có phải mọi quốc gia đều đi qua đủ bốn kiểu nhà nước?</a:t>
            </a:r>
          </a:p>
          <a:p>
            <a:pPr>
              <a:spcAft>
                <a:spcPts val="600"/>
              </a:spcAft>
            </a:pPr>
            <a:r>
              <a:rPr lang="vi-VN" sz="1100"/>
              <a:t>Slide dùng khung phân loại của giáo trình theo cơ sở giai cấp và điều kiện kinh tế - xã hội. Bài trình bày không khẳng định mọi quốc gia đều trải qua một lịch trình giống nhau và bắt buộc đi qua đủ bốn kiểu.</a:t>
            </a:r>
          </a:p>
          <a:p>
            <a:pPr>
              <a:spcAft>
                <a:spcPts val="600"/>
              </a:spcAft>
            </a:pPr>
            <a:r>
              <a:rPr lang="vi-VN" sz="1100"/>
              <a:t>Có thể coi đối nội là chính trị và đối ngoại là xã hội không?</a:t>
            </a:r>
          </a:p>
          <a:p>
            <a:pPr>
              <a:spcAft>
                <a:spcPts val="600"/>
              </a:spcAft>
            </a:pPr>
            <a:r>
              <a:rPr lang="vi-VN" sz="1100"/>
              <a:t>Không. Đối nội/đối ngoại là phạm vi hoạt động; thống trị chính trị/xã hội là bản chất hoạt động. Một hoạt động có thể được nhìn theo cả hai tiêu chí, và nội dung chính trị với xã hội có thể đan xen.</a:t>
            </a:r>
          </a:p>
        </p:txBody>
      </p:sp>
      <p:sp>
        <p:nvSpPr>
          <p:cNvPr id="4" name="Slide Number Placeholder 3"/>
          <p:cNvSpPr>
            <a:spLocks noGrp="1"/>
          </p:cNvSpPr>
          <p:nvPr>
            <p:ph type="sldNum" sz="quarter" idx="5"/>
          </p:nvPr>
        </p:nvSpPr>
        <p:spPr/>
        <p:txBody>
          <a:bodyPr/>
          <a:lstStyle/>
          <a:p>
            <a:fld id="{99E40412-9FD5-43C9-818B-C2A6967EC543}" type="slidenum">
              <a:rPr lang="vi-VN" smtClean="0"/>
              <a:t>14</a:t>
            </a:fld>
            <a:endParaRPr lang="vi-VN"/>
          </a:p>
        </p:txBody>
      </p:sp>
    </p:spTree>
    <p:extLst>
      <p:ext uri="{BB962C8B-B14F-4D97-AF65-F5344CB8AC3E}">
        <p14:creationId xmlns:p14="http://schemas.microsoft.com/office/powerpoint/2010/main" val="4007048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C9EB7-F627-7486-DF5C-2A920D7BE113}"/>
              </a:ext>
            </a:extLst>
          </p:cNvPr>
          <p:cNvSpPr>
            <a:spLocks noGrp="1"/>
          </p:cNvSpPr>
          <p:nvPr>
            <p:ph type="ctrTitle"/>
          </p:nvPr>
        </p:nvSpPr>
        <p:spPr>
          <a:xfrm>
            <a:off x="1905000" y="1402954"/>
            <a:ext cx="11430000" cy="29845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FCB3213F-F94C-6091-9ECF-3927AA27375A}"/>
              </a:ext>
            </a:extLst>
          </p:cNvPr>
          <p:cNvSpPr>
            <a:spLocks noGrp="1"/>
          </p:cNvSpPr>
          <p:nvPr>
            <p:ph type="subTitle" idx="1"/>
          </p:nvPr>
        </p:nvSpPr>
        <p:spPr>
          <a:xfrm>
            <a:off x="1905000" y="4502547"/>
            <a:ext cx="11430000" cy="206970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956F2E2B-6ED1-879D-C22B-70D6C6F17A3D}"/>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5" name="Footer Placeholder 4">
            <a:extLst>
              <a:ext uri="{FF2B5EF4-FFF2-40B4-BE49-F238E27FC236}">
                <a16:creationId xmlns:a16="http://schemas.microsoft.com/office/drawing/2014/main" id="{0EFCFA91-A313-1674-36EF-E251981F7517}"/>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372D1A1-C3D0-6E2E-AD65-86D3718F9A8A}"/>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162405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F0BCB-A7D5-3615-0103-3135294294E2}"/>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A4BCD54-B015-CB95-1FA1-49E930319A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BCAE5761-F5E3-DB47-9B66-3948AFD72242}"/>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5" name="Footer Placeholder 4">
            <a:extLst>
              <a:ext uri="{FF2B5EF4-FFF2-40B4-BE49-F238E27FC236}">
                <a16:creationId xmlns:a16="http://schemas.microsoft.com/office/drawing/2014/main" id="{6060E193-83DC-2BD1-1868-910281478FE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65150F4-A33F-5E32-A507-3C2DC90F6670}"/>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1527345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00E03-BE9A-19EC-D47A-C08F2FC07C1B}"/>
              </a:ext>
            </a:extLst>
          </p:cNvPr>
          <p:cNvSpPr>
            <a:spLocks noGrp="1"/>
          </p:cNvSpPr>
          <p:nvPr>
            <p:ph type="title"/>
          </p:nvPr>
        </p:nvSpPr>
        <p:spPr>
          <a:xfrm>
            <a:off x="1039813" y="2137175"/>
            <a:ext cx="13144500" cy="3565921"/>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247029DE-F5CC-6EA8-EC45-51D6AEE3E908}"/>
              </a:ext>
            </a:extLst>
          </p:cNvPr>
          <p:cNvSpPr>
            <a:spLocks noGrp="1"/>
          </p:cNvSpPr>
          <p:nvPr>
            <p:ph type="body" idx="1"/>
          </p:nvPr>
        </p:nvSpPr>
        <p:spPr>
          <a:xfrm>
            <a:off x="1039813" y="5736831"/>
            <a:ext cx="13144500" cy="1875234"/>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722388-A8D3-20AD-F98F-F7FDBDE4CDDD}"/>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5" name="Footer Placeholder 4">
            <a:extLst>
              <a:ext uri="{FF2B5EF4-FFF2-40B4-BE49-F238E27FC236}">
                <a16:creationId xmlns:a16="http://schemas.microsoft.com/office/drawing/2014/main" id="{F1FDC758-A8DE-EEA3-FF1C-DAEA7AE7D989}"/>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E17D68E-1FE3-8C4A-AE00-3C5135A65BC3}"/>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2001925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1B8E-160D-F430-0D1F-98D9E2974E4A}"/>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7F8A6D8-C6C9-73AD-2F1B-18731E151EA8}"/>
              </a:ext>
            </a:extLst>
          </p:cNvPr>
          <p:cNvSpPr>
            <a:spLocks noGrp="1"/>
          </p:cNvSpPr>
          <p:nvPr>
            <p:ph sz="half" idx="1"/>
          </p:nvPr>
        </p:nvSpPr>
        <p:spPr>
          <a:xfrm>
            <a:off x="1047750" y="2282031"/>
            <a:ext cx="6477000" cy="543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61B27B21-AA0F-5B44-FDDC-5096A4DAC635}"/>
              </a:ext>
            </a:extLst>
          </p:cNvPr>
          <p:cNvSpPr>
            <a:spLocks noGrp="1"/>
          </p:cNvSpPr>
          <p:nvPr>
            <p:ph sz="half" idx="2"/>
          </p:nvPr>
        </p:nvSpPr>
        <p:spPr>
          <a:xfrm>
            <a:off x="7715250" y="2282031"/>
            <a:ext cx="6477000" cy="5439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0139FFE3-7204-C57E-D97C-2D5D519B9AD1}"/>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6" name="Footer Placeholder 5">
            <a:extLst>
              <a:ext uri="{FF2B5EF4-FFF2-40B4-BE49-F238E27FC236}">
                <a16:creationId xmlns:a16="http://schemas.microsoft.com/office/drawing/2014/main" id="{11F7683E-1CD8-0905-AEDE-AF012B78D2B1}"/>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6D8BFB66-FB57-376C-156F-FFB112970639}"/>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2890831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809DB-E184-8E87-48CF-66CB2AABB816}"/>
              </a:ext>
            </a:extLst>
          </p:cNvPr>
          <p:cNvSpPr>
            <a:spLocks noGrp="1"/>
          </p:cNvSpPr>
          <p:nvPr>
            <p:ph type="title"/>
          </p:nvPr>
        </p:nvSpPr>
        <p:spPr>
          <a:xfrm>
            <a:off x="1049735" y="456408"/>
            <a:ext cx="13144500" cy="1656954"/>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68068824-4ABD-013D-2B85-74E80E36D4B8}"/>
              </a:ext>
            </a:extLst>
          </p:cNvPr>
          <p:cNvSpPr>
            <a:spLocks noGrp="1"/>
          </p:cNvSpPr>
          <p:nvPr>
            <p:ph type="body" idx="1"/>
          </p:nvPr>
        </p:nvSpPr>
        <p:spPr>
          <a:xfrm>
            <a:off x="1049736" y="2101454"/>
            <a:ext cx="6447234" cy="102989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027615-444E-6A72-0C68-A2EF6B7DB4CA}"/>
              </a:ext>
            </a:extLst>
          </p:cNvPr>
          <p:cNvSpPr>
            <a:spLocks noGrp="1"/>
          </p:cNvSpPr>
          <p:nvPr>
            <p:ph sz="half" idx="2"/>
          </p:nvPr>
        </p:nvSpPr>
        <p:spPr>
          <a:xfrm>
            <a:off x="1049736" y="3131344"/>
            <a:ext cx="6447234" cy="46057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F28B88D5-63D3-4723-9714-E60BA605A45B}"/>
              </a:ext>
            </a:extLst>
          </p:cNvPr>
          <p:cNvSpPr>
            <a:spLocks noGrp="1"/>
          </p:cNvSpPr>
          <p:nvPr>
            <p:ph type="body" sz="quarter" idx="3"/>
          </p:nvPr>
        </p:nvSpPr>
        <p:spPr>
          <a:xfrm>
            <a:off x="7715251" y="2101454"/>
            <a:ext cx="6478985" cy="102989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74DD48-ADA2-ACB3-C0A1-78A764B6566A}"/>
              </a:ext>
            </a:extLst>
          </p:cNvPr>
          <p:cNvSpPr>
            <a:spLocks noGrp="1"/>
          </p:cNvSpPr>
          <p:nvPr>
            <p:ph sz="quarter" idx="4"/>
          </p:nvPr>
        </p:nvSpPr>
        <p:spPr>
          <a:xfrm>
            <a:off x="7715251" y="3131344"/>
            <a:ext cx="6478985" cy="46057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B1785DBF-50C0-FFBC-3543-8EB3329227AB}"/>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8" name="Footer Placeholder 7">
            <a:extLst>
              <a:ext uri="{FF2B5EF4-FFF2-40B4-BE49-F238E27FC236}">
                <a16:creationId xmlns:a16="http://schemas.microsoft.com/office/drawing/2014/main" id="{CCB3EE26-A0A0-4018-C51D-52509E9E4A56}"/>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BF8689B8-3526-32BB-BC45-F99C9A7E2EAB}"/>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4186761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DCB89-2203-71C2-5E12-59273B257690}"/>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15DA6391-FC2B-6B16-5A3E-51ABD5E98DFF}"/>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4" name="Footer Placeholder 3">
            <a:extLst>
              <a:ext uri="{FF2B5EF4-FFF2-40B4-BE49-F238E27FC236}">
                <a16:creationId xmlns:a16="http://schemas.microsoft.com/office/drawing/2014/main" id="{2D7FA1C6-9306-3DBD-2D3D-E4C8A8C38AA4}"/>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86D6A15D-3B9D-7F8B-D4AD-F0457F005E46}"/>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47695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382D31-749E-47E8-7F81-AB4CE22C5DDD}"/>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3" name="Footer Placeholder 2">
            <a:extLst>
              <a:ext uri="{FF2B5EF4-FFF2-40B4-BE49-F238E27FC236}">
                <a16:creationId xmlns:a16="http://schemas.microsoft.com/office/drawing/2014/main" id="{5345C5A9-021F-7C53-DA65-68EA8EDB7EB8}"/>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31E9D970-FBC1-ABA7-6139-B8EC3BECB334}"/>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1350026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931C-D85A-207A-B093-3EED54A56FEC}"/>
              </a:ext>
            </a:extLst>
          </p:cNvPr>
          <p:cNvSpPr>
            <a:spLocks noGrp="1"/>
          </p:cNvSpPr>
          <p:nvPr>
            <p:ph type="title"/>
          </p:nvPr>
        </p:nvSpPr>
        <p:spPr>
          <a:xfrm>
            <a:off x="1049736" y="571500"/>
            <a:ext cx="4915296" cy="200025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F749C802-494B-9917-C9C7-6DD171014520}"/>
              </a:ext>
            </a:extLst>
          </p:cNvPr>
          <p:cNvSpPr>
            <a:spLocks noGrp="1"/>
          </p:cNvSpPr>
          <p:nvPr>
            <p:ph idx="1"/>
          </p:nvPr>
        </p:nvSpPr>
        <p:spPr>
          <a:xfrm>
            <a:off x="6478985" y="1234283"/>
            <a:ext cx="7715250" cy="609203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CE1E2E53-C2C2-825C-E861-B667DB214F00}"/>
              </a:ext>
            </a:extLst>
          </p:cNvPr>
          <p:cNvSpPr>
            <a:spLocks noGrp="1"/>
          </p:cNvSpPr>
          <p:nvPr>
            <p:ph type="body" sz="half" idx="2"/>
          </p:nvPr>
        </p:nvSpPr>
        <p:spPr>
          <a:xfrm>
            <a:off x="1049736" y="2571750"/>
            <a:ext cx="4915296" cy="476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93FBD2-DF58-6027-4FBB-54E5E37581A7}"/>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6" name="Footer Placeholder 5">
            <a:extLst>
              <a:ext uri="{FF2B5EF4-FFF2-40B4-BE49-F238E27FC236}">
                <a16:creationId xmlns:a16="http://schemas.microsoft.com/office/drawing/2014/main" id="{54C87979-FBDF-56E4-D529-B3EF80D6E8CB}"/>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AFCFFFC-FDCE-74B1-3533-B6E5566C4386}"/>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4062195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5CA93-FDFC-C9E6-E80A-81241560DFDC}"/>
              </a:ext>
            </a:extLst>
          </p:cNvPr>
          <p:cNvSpPr>
            <a:spLocks noGrp="1"/>
          </p:cNvSpPr>
          <p:nvPr>
            <p:ph type="title"/>
          </p:nvPr>
        </p:nvSpPr>
        <p:spPr>
          <a:xfrm>
            <a:off x="1049736" y="571500"/>
            <a:ext cx="4915296" cy="200025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A6D0DF84-7702-C2AF-59EC-D8DEB8D0FBD9}"/>
              </a:ext>
            </a:extLst>
          </p:cNvPr>
          <p:cNvSpPr>
            <a:spLocks noGrp="1"/>
          </p:cNvSpPr>
          <p:nvPr>
            <p:ph type="pic" idx="1"/>
          </p:nvPr>
        </p:nvSpPr>
        <p:spPr>
          <a:xfrm>
            <a:off x="6478985" y="1234283"/>
            <a:ext cx="7715250" cy="60920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5AA3546A-B50C-9474-8214-B645853223EC}"/>
              </a:ext>
            </a:extLst>
          </p:cNvPr>
          <p:cNvSpPr>
            <a:spLocks noGrp="1"/>
          </p:cNvSpPr>
          <p:nvPr>
            <p:ph type="body" sz="half" idx="2"/>
          </p:nvPr>
        </p:nvSpPr>
        <p:spPr>
          <a:xfrm>
            <a:off x="1049736" y="2571750"/>
            <a:ext cx="4915296" cy="476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B4CEF-FED7-6F47-7B6B-C57F37318C6A}"/>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6" name="Footer Placeholder 5">
            <a:extLst>
              <a:ext uri="{FF2B5EF4-FFF2-40B4-BE49-F238E27FC236}">
                <a16:creationId xmlns:a16="http://schemas.microsoft.com/office/drawing/2014/main" id="{4E8CA791-2C9B-1FFE-E712-2B242B96979D}"/>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81E0F2A0-4315-4BA6-B06D-FD47A48D58CC}"/>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2506305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1C8CE-DF1F-765D-9605-90456C3EC1DB}"/>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91E15730-A0C4-DB35-D5E8-5D542067D8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62C0619-25F7-DB66-A10D-51E8C4E7F325}"/>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5" name="Footer Placeholder 4">
            <a:extLst>
              <a:ext uri="{FF2B5EF4-FFF2-40B4-BE49-F238E27FC236}">
                <a16:creationId xmlns:a16="http://schemas.microsoft.com/office/drawing/2014/main" id="{F0558165-5D98-DAC4-CF22-6F19BFD5667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E387771E-0D1D-464E-E989-926A0EEC66A7}"/>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2010455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1E3E42-7362-5ED3-33F2-A0A0C9A95119}"/>
              </a:ext>
            </a:extLst>
          </p:cNvPr>
          <p:cNvSpPr>
            <a:spLocks noGrp="1"/>
          </p:cNvSpPr>
          <p:nvPr>
            <p:ph type="title" orient="vert"/>
          </p:nvPr>
        </p:nvSpPr>
        <p:spPr>
          <a:xfrm>
            <a:off x="10906126" y="456406"/>
            <a:ext cx="3286125" cy="726479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09F379FC-C2E4-3240-3348-983F08B61E50}"/>
              </a:ext>
            </a:extLst>
          </p:cNvPr>
          <p:cNvSpPr>
            <a:spLocks noGrp="1"/>
          </p:cNvSpPr>
          <p:nvPr>
            <p:ph type="body" orient="vert" idx="1"/>
          </p:nvPr>
        </p:nvSpPr>
        <p:spPr>
          <a:xfrm>
            <a:off x="1047751" y="456406"/>
            <a:ext cx="9667875" cy="72647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3142BA7-4971-9946-46B4-88251784DDE4}"/>
              </a:ext>
            </a:extLst>
          </p:cNvPr>
          <p:cNvSpPr>
            <a:spLocks noGrp="1"/>
          </p:cNvSpPr>
          <p:nvPr>
            <p:ph type="dt" sz="half" idx="10"/>
          </p:nvPr>
        </p:nvSpPr>
        <p:spPr/>
        <p:txBody>
          <a:bodyPr/>
          <a:lstStyle/>
          <a:p>
            <a:fld id="{95596F2E-2AFC-4AAF-AB6C-13F3E1CBBC24}" type="datetimeFigureOut">
              <a:rPr lang="vi-VN" smtClean="0"/>
              <a:t>30/09/2026</a:t>
            </a:fld>
            <a:endParaRPr lang="vi-VN"/>
          </a:p>
        </p:txBody>
      </p:sp>
      <p:sp>
        <p:nvSpPr>
          <p:cNvPr id="5" name="Footer Placeholder 4">
            <a:extLst>
              <a:ext uri="{FF2B5EF4-FFF2-40B4-BE49-F238E27FC236}">
                <a16:creationId xmlns:a16="http://schemas.microsoft.com/office/drawing/2014/main" id="{85B2129D-7131-E3DB-D768-EDA8BEA8F53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B58179DF-F327-85E9-25EA-40A5C03B7040}"/>
              </a:ext>
            </a:extLst>
          </p:cNvPr>
          <p:cNvSpPr>
            <a:spLocks noGrp="1"/>
          </p:cNvSpPr>
          <p:nvPr>
            <p:ph type="sldNum" sz="quarter" idx="12"/>
          </p:nvPr>
        </p:nvSpPr>
        <p:spPr/>
        <p:txBody>
          <a:bodyPr/>
          <a:lstStyle/>
          <a:p>
            <a:fld id="{EDF69825-0D6B-4952-A76B-18740104CEC4}" type="slidenum">
              <a:rPr lang="vi-VN" smtClean="0"/>
              <a:t>‹#›</a:t>
            </a:fld>
            <a:endParaRPr lang="vi-VN"/>
          </a:p>
        </p:txBody>
      </p:sp>
    </p:spTree>
    <p:extLst>
      <p:ext uri="{BB962C8B-B14F-4D97-AF65-F5344CB8AC3E}">
        <p14:creationId xmlns:p14="http://schemas.microsoft.com/office/powerpoint/2010/main" val="2506835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929FC5-7062-8C4A-D9B5-45636395F650}"/>
              </a:ext>
            </a:extLst>
          </p:cNvPr>
          <p:cNvSpPr>
            <a:spLocks noGrp="1"/>
          </p:cNvSpPr>
          <p:nvPr>
            <p:ph type="title"/>
          </p:nvPr>
        </p:nvSpPr>
        <p:spPr>
          <a:xfrm>
            <a:off x="1047750" y="456408"/>
            <a:ext cx="13144500" cy="1656954"/>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184F9A78-A167-6814-72A0-EBFAC7445029}"/>
              </a:ext>
            </a:extLst>
          </p:cNvPr>
          <p:cNvSpPr>
            <a:spLocks noGrp="1"/>
          </p:cNvSpPr>
          <p:nvPr>
            <p:ph type="body" idx="1"/>
          </p:nvPr>
        </p:nvSpPr>
        <p:spPr>
          <a:xfrm>
            <a:off x="1047750" y="2282031"/>
            <a:ext cx="13144500" cy="54391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8DBFAD3-7609-3AA6-0872-E9029106E645}"/>
              </a:ext>
            </a:extLst>
          </p:cNvPr>
          <p:cNvSpPr>
            <a:spLocks noGrp="1"/>
          </p:cNvSpPr>
          <p:nvPr>
            <p:ph type="dt" sz="half" idx="2"/>
          </p:nvPr>
        </p:nvSpPr>
        <p:spPr>
          <a:xfrm>
            <a:off x="1047750" y="7945440"/>
            <a:ext cx="3429000" cy="456406"/>
          </a:xfrm>
          <a:prstGeom prst="rect">
            <a:avLst/>
          </a:prstGeom>
        </p:spPr>
        <p:txBody>
          <a:bodyPr vert="horz" lIns="91440" tIns="45720" rIns="91440" bIns="45720" rtlCol="0" anchor="ctr"/>
          <a:lstStyle>
            <a:lvl1pPr algn="l">
              <a:defRPr sz="1200">
                <a:solidFill>
                  <a:schemeClr val="tx1">
                    <a:tint val="82000"/>
                  </a:schemeClr>
                </a:solidFill>
              </a:defRPr>
            </a:lvl1pPr>
          </a:lstStyle>
          <a:p>
            <a:fld id="{95596F2E-2AFC-4AAF-AB6C-13F3E1CBBC24}" type="datetimeFigureOut">
              <a:rPr lang="vi-VN" smtClean="0"/>
              <a:t>30/09/2026</a:t>
            </a:fld>
            <a:endParaRPr lang="vi-VN"/>
          </a:p>
        </p:txBody>
      </p:sp>
      <p:sp>
        <p:nvSpPr>
          <p:cNvPr id="5" name="Footer Placeholder 4">
            <a:extLst>
              <a:ext uri="{FF2B5EF4-FFF2-40B4-BE49-F238E27FC236}">
                <a16:creationId xmlns:a16="http://schemas.microsoft.com/office/drawing/2014/main" id="{0222CC34-D56B-20E1-E211-0717E18F3414}"/>
              </a:ext>
            </a:extLst>
          </p:cNvPr>
          <p:cNvSpPr>
            <a:spLocks noGrp="1"/>
          </p:cNvSpPr>
          <p:nvPr>
            <p:ph type="ftr" sz="quarter" idx="3"/>
          </p:nvPr>
        </p:nvSpPr>
        <p:spPr>
          <a:xfrm>
            <a:off x="5048250" y="7945440"/>
            <a:ext cx="5143500" cy="45640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6527AAFA-D0F5-95A5-1E96-2F86BFB62241}"/>
              </a:ext>
            </a:extLst>
          </p:cNvPr>
          <p:cNvSpPr>
            <a:spLocks noGrp="1"/>
          </p:cNvSpPr>
          <p:nvPr>
            <p:ph type="sldNum" sz="quarter" idx="4"/>
          </p:nvPr>
        </p:nvSpPr>
        <p:spPr>
          <a:xfrm>
            <a:off x="10763250" y="7945440"/>
            <a:ext cx="3429000" cy="456406"/>
          </a:xfrm>
          <a:prstGeom prst="rect">
            <a:avLst/>
          </a:prstGeom>
        </p:spPr>
        <p:txBody>
          <a:bodyPr vert="horz" lIns="91440" tIns="45720" rIns="91440" bIns="45720" rtlCol="0" anchor="ctr"/>
          <a:lstStyle>
            <a:lvl1pPr algn="r">
              <a:defRPr sz="1200">
                <a:solidFill>
                  <a:schemeClr val="tx1">
                    <a:tint val="82000"/>
                  </a:schemeClr>
                </a:solidFill>
              </a:defRPr>
            </a:lvl1pPr>
          </a:lstStyle>
          <a:p>
            <a:fld id="{EDF69825-0D6B-4952-A76B-18740104CEC4}" type="slidenum">
              <a:rPr lang="vi-VN" smtClean="0"/>
              <a:t>‹#›</a:t>
            </a:fld>
            <a:endParaRPr lang="vi-VN"/>
          </a:p>
        </p:txBody>
      </p:sp>
    </p:spTree>
    <p:extLst>
      <p:ext uri="{BB962C8B-B14F-4D97-AF65-F5344CB8AC3E}">
        <p14:creationId xmlns:p14="http://schemas.microsoft.com/office/powerpoint/2010/main" val="2116214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11.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8.png"/></Relationships>
</file>

<file path=ppt/slides/_rels/slide1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A321A032-126D-9759-E10C-7260AF63C8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Nhà nước.">
            <a:extLst>
              <a:ext uri="{FF2B5EF4-FFF2-40B4-BE49-F238E27FC236}">
                <a16:creationId xmlns:a16="http://schemas.microsoft.com/office/drawing/2014/main" id="{03F2E732-736D-ADD8-B437-799D5D191EB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05425" y="1885950"/>
            <a:ext cx="5791200" cy="1047750"/>
          </a:xfrm>
          <a:prstGeom prst="rect">
            <a:avLst/>
          </a:prstGeom>
        </p:spPr>
      </p:pic>
      <p:pic>
        <p:nvPicPr>
          <p:cNvPr id="7" name="Animation-2-question" descr="Vì sao xã hội cần&#10;một quyền lực đặc biệt?">
            <a:extLst>
              <a:ext uri="{FF2B5EF4-FFF2-40B4-BE49-F238E27FC236}">
                <a16:creationId xmlns:a16="http://schemas.microsoft.com/office/drawing/2014/main" id="{0030CDB8-6ABC-8762-A99E-ABCDDE52369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248275" y="3505200"/>
            <a:ext cx="4762500" cy="1114425"/>
          </a:xfrm>
          <a:prstGeom prst="rect">
            <a:avLst/>
          </a:prstGeom>
        </p:spPr>
      </p:pic>
      <p:pic>
        <p:nvPicPr>
          <p:cNvPr id="9" name="Animation-3-meta" descr="Chương III · Duy vật lịch sử&#10;12–15 phút">
            <a:extLst>
              <a:ext uri="{FF2B5EF4-FFF2-40B4-BE49-F238E27FC236}">
                <a16:creationId xmlns:a16="http://schemas.microsoft.com/office/drawing/2014/main" id="{5F91B94A-FB88-C968-7AB7-051D797C204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257800" y="5276850"/>
            <a:ext cx="3190875" cy="180975"/>
          </a:xfrm>
          <a:prstGeom prst="rect">
            <a:avLst/>
          </a:prstGeom>
        </p:spPr>
      </p:pic>
    </p:spTree>
    <p:extLst>
      <p:ext uri="{BB962C8B-B14F-4D97-AF65-F5344CB8AC3E}">
        <p14:creationId xmlns:p14="http://schemas.microsoft.com/office/powerpoint/2010/main" val="3947849174"/>
      </p:ext>
    </p:extLst>
  </p:cSld>
  <p:clrMapOvr>
    <a:masterClrMapping/>
  </p:clrMapOvr>
  <mc:AlternateContent xmlns:mc="http://schemas.openxmlformats.org/markup-compatibility/2006">
    <mc:Choice xmlns:p14="http://schemas.microsoft.com/office/powerpoint/2010/main" Requires="p14">
      <p:transition spd="med" p14:dur="72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1D52C8D1-A5D4-6604-CCC3-7AE650EC40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Từ sự ra đời đến cách vận hành.">
            <a:extLst>
              <a:ext uri="{FF2B5EF4-FFF2-40B4-BE49-F238E27FC236}">
                <a16:creationId xmlns:a16="http://schemas.microsoft.com/office/drawing/2014/main" id="{FACF0A33-37FC-9C90-670F-4943502BA06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85825" y="1276350"/>
            <a:ext cx="8991600" cy="628650"/>
          </a:xfrm>
          <a:prstGeom prst="rect">
            <a:avLst/>
          </a:prstGeom>
        </p:spPr>
      </p:pic>
      <p:pic>
        <p:nvPicPr>
          <p:cNvPr id="7" name="Animation-2-concept" descr="01&#10;Nguồn gốc&#10;&#10;Vì sao ra đời?">
            <a:extLst>
              <a:ext uri="{FF2B5EF4-FFF2-40B4-BE49-F238E27FC236}">
                <a16:creationId xmlns:a16="http://schemas.microsoft.com/office/drawing/2014/main" id="{57E10F92-FF4C-4DFD-8A90-BAB1D933875D}"/>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2847975"/>
            <a:ext cx="2495550" cy="1895475"/>
          </a:xfrm>
          <a:prstGeom prst="rect">
            <a:avLst/>
          </a:prstGeom>
        </p:spPr>
      </p:pic>
      <p:pic>
        <p:nvPicPr>
          <p:cNvPr id="9" name="Animation-3-concept" descr="02&#10;Bản chất&#10;&#10;Quyền lực của ai?">
            <a:extLst>
              <a:ext uri="{FF2B5EF4-FFF2-40B4-BE49-F238E27FC236}">
                <a16:creationId xmlns:a16="http://schemas.microsoft.com/office/drawing/2014/main" id="{7734D018-DDDC-CE82-885C-66B920CF380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619500" y="2847975"/>
            <a:ext cx="2505075" cy="1943100"/>
          </a:xfrm>
          <a:prstGeom prst="rect">
            <a:avLst/>
          </a:prstGeom>
        </p:spPr>
      </p:pic>
      <p:pic>
        <p:nvPicPr>
          <p:cNvPr id="11" name="Animation-4-concept" descr="03&#10;Đặc trưng&#10;&#10;Nhận diện thế nào?">
            <a:extLst>
              <a:ext uri="{FF2B5EF4-FFF2-40B4-BE49-F238E27FC236}">
                <a16:creationId xmlns:a16="http://schemas.microsoft.com/office/drawing/2014/main" id="{91166DA9-A19B-4F8F-0C29-84861C8C998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372225" y="2847975"/>
            <a:ext cx="2495550" cy="1943100"/>
          </a:xfrm>
          <a:prstGeom prst="rect">
            <a:avLst/>
          </a:prstGeom>
        </p:spPr>
      </p:pic>
      <p:pic>
        <p:nvPicPr>
          <p:cNvPr id="13" name="Animation-5-concept" descr="04&#10;Chức năng&#10;&#10;Hoạt động ra sao?">
            <a:extLst>
              <a:ext uri="{FF2B5EF4-FFF2-40B4-BE49-F238E27FC236}">
                <a16:creationId xmlns:a16="http://schemas.microsoft.com/office/drawing/2014/main" id="{1B3F1A72-2EE1-F995-9476-39CCD3DAE2E9}"/>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115425" y="2847975"/>
            <a:ext cx="2505075" cy="1943100"/>
          </a:xfrm>
          <a:prstGeom prst="rect">
            <a:avLst/>
          </a:prstGeom>
        </p:spPr>
      </p:pic>
      <p:pic>
        <p:nvPicPr>
          <p:cNvPr id="15" name="Animation-6-concept" descr="05&#10;Kiểu &amp;&#10;hình thức&#10;&#10;Biến đổi thế nào?">
            <a:extLst>
              <a:ext uri="{FF2B5EF4-FFF2-40B4-BE49-F238E27FC236}">
                <a16:creationId xmlns:a16="http://schemas.microsoft.com/office/drawing/2014/main" id="{906A7C84-9ADA-0DE9-D124-DE673FCF6B9F}"/>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1858625" y="2847975"/>
            <a:ext cx="2505075" cy="2305050"/>
          </a:xfrm>
          <a:prstGeom prst="rect">
            <a:avLst/>
          </a:prstGeom>
        </p:spPr>
      </p:pic>
      <p:pic>
        <p:nvPicPr>
          <p:cNvPr id="17" name="Animation-7-reading" descr="Bài trình bày đi từ nguyên nhân xuất hiện, qua bản chất và cách vận hành, rồi kết thúc bằng sự biến đổi lịch sử và liên hệ Việt Nam.">
            <a:extLst>
              <a:ext uri="{FF2B5EF4-FFF2-40B4-BE49-F238E27FC236}">
                <a16:creationId xmlns:a16="http://schemas.microsoft.com/office/drawing/2014/main" id="{3240E949-184D-AE9D-7F51-3CEA93594008}"/>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1524000" y="5514975"/>
            <a:ext cx="12049125" cy="685800"/>
          </a:xfrm>
          <a:prstGeom prst="rect">
            <a:avLst/>
          </a:prstGeom>
        </p:spPr>
      </p:pic>
    </p:spTree>
    <p:extLst>
      <p:ext uri="{BB962C8B-B14F-4D97-AF65-F5344CB8AC3E}">
        <p14:creationId xmlns:p14="http://schemas.microsoft.com/office/powerpoint/2010/main" val="31439334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D52A267F-AD8E-88DA-890E-91A453C6FC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Khi cộng đồng bắt đầu phân hóa.">
            <a:extLst>
              <a:ext uri="{FF2B5EF4-FFF2-40B4-BE49-F238E27FC236}">
                <a16:creationId xmlns:a16="http://schemas.microsoft.com/office/drawing/2014/main" id="{CBBACBDA-33A5-62B0-8E4B-2E9BDBB8D69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95350" y="1257300"/>
            <a:ext cx="9220200" cy="685800"/>
          </a:xfrm>
          <a:prstGeom prst="rect">
            <a:avLst/>
          </a:prstGeom>
        </p:spPr>
      </p:pic>
      <p:pic>
        <p:nvPicPr>
          <p:cNvPr id="7" name="Animation-2-concept" descr="01&#10;Tự quản&#10;cộng đồng">
            <a:extLst>
              <a:ext uri="{FF2B5EF4-FFF2-40B4-BE49-F238E27FC236}">
                <a16:creationId xmlns:a16="http://schemas.microsoft.com/office/drawing/2014/main" id="{4F6AEC69-D6DA-9687-FBA9-0EE0F69AC6B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2762250"/>
            <a:ext cx="3390900" cy="1952625"/>
          </a:xfrm>
          <a:prstGeom prst="rect">
            <a:avLst/>
          </a:prstGeom>
        </p:spPr>
      </p:pic>
      <p:pic>
        <p:nvPicPr>
          <p:cNvPr id="9" name="Animation-3-concept" descr="02&#10;Lực lượng sản xuất&#10;phát triển">
            <a:extLst>
              <a:ext uri="{FF2B5EF4-FFF2-40B4-BE49-F238E27FC236}">
                <a16:creationId xmlns:a16="http://schemas.microsoft.com/office/drawing/2014/main" id="{678C8788-5E27-73AA-3D23-2EFF1F49C85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4333875" y="2762250"/>
            <a:ext cx="3390900" cy="1952625"/>
          </a:xfrm>
          <a:prstGeom prst="rect">
            <a:avLst/>
          </a:prstGeom>
        </p:spPr>
      </p:pic>
      <p:pic>
        <p:nvPicPr>
          <p:cNvPr id="11" name="Animation-4-concept" descr="03&#10;Tư hữu&#10;xuất hiện">
            <a:extLst>
              <a:ext uri="{FF2B5EF4-FFF2-40B4-BE49-F238E27FC236}">
                <a16:creationId xmlns:a16="http://schemas.microsoft.com/office/drawing/2014/main" id="{BCAAFB95-2E2C-E913-AADA-4BD3C70B2485}"/>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7791450" y="2762250"/>
            <a:ext cx="3400425" cy="1933575"/>
          </a:xfrm>
          <a:prstGeom prst="rect">
            <a:avLst/>
          </a:prstGeom>
        </p:spPr>
      </p:pic>
      <p:pic>
        <p:nvPicPr>
          <p:cNvPr id="13" name="Animation-5-concept" descr="04&#10;Phân hóa&#10;giai cấp">
            <a:extLst>
              <a:ext uri="{FF2B5EF4-FFF2-40B4-BE49-F238E27FC236}">
                <a16:creationId xmlns:a16="http://schemas.microsoft.com/office/drawing/2014/main" id="{5872C120-04BE-6F5A-A17B-9895A96E8129}"/>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1258550" y="2809875"/>
            <a:ext cx="3105150" cy="1905000"/>
          </a:xfrm>
          <a:prstGeom prst="rect">
            <a:avLst/>
          </a:prstGeom>
        </p:spPr>
      </p:pic>
      <p:pic>
        <p:nvPicPr>
          <p:cNvPr id="15" name="Animation-6-reading" descr="Khi sản xuất phát triển, tư hữu và phân hóa lợi ích dần làm cơ chế tự quản của cộng đồng không còn đủ sức giữ trật tự.">
            <a:extLst>
              <a:ext uri="{FF2B5EF4-FFF2-40B4-BE49-F238E27FC236}">
                <a16:creationId xmlns:a16="http://schemas.microsoft.com/office/drawing/2014/main" id="{90913781-920F-5B36-9000-8BBFF9E7923A}"/>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524000" y="5000625"/>
            <a:ext cx="12039600" cy="685800"/>
          </a:xfrm>
          <a:prstGeom prst="rect">
            <a:avLst/>
          </a:prstGeom>
        </p:spPr>
      </p:pic>
      <p:pic>
        <p:nvPicPr>
          <p:cNvPr id="17" name="Animation-7-takeaway" descr="Nhà nước xuất hiện trong điều kiện lịch sử nhất định.">
            <a:extLst>
              <a:ext uri="{FF2B5EF4-FFF2-40B4-BE49-F238E27FC236}">
                <a16:creationId xmlns:a16="http://schemas.microsoft.com/office/drawing/2014/main" id="{02F8B0CF-F223-34C5-FA01-902D7A161AB0}"/>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876300" y="6972300"/>
            <a:ext cx="13487400" cy="561975"/>
          </a:xfrm>
          <a:prstGeom prst="rect">
            <a:avLst/>
          </a:prstGeom>
        </p:spPr>
      </p:pic>
    </p:spTree>
    <p:extLst>
      <p:ext uri="{BB962C8B-B14F-4D97-AF65-F5344CB8AC3E}">
        <p14:creationId xmlns:p14="http://schemas.microsoft.com/office/powerpoint/2010/main" val="14287555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22" presetClass="entr" presetSubtype="8"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84A8B154-2CA3-6EAA-140B-A1E529B8EB9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Mâu thuẫn giai cấp&#10;không thể điều hòa.">
            <a:extLst>
              <a:ext uri="{FF2B5EF4-FFF2-40B4-BE49-F238E27FC236}">
                <a16:creationId xmlns:a16="http://schemas.microsoft.com/office/drawing/2014/main" id="{AA8C24B3-9C23-F6EA-526A-51746D5CCB2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76300" y="1228725"/>
            <a:ext cx="5543550" cy="1504950"/>
          </a:xfrm>
          <a:prstGeom prst="rect">
            <a:avLst/>
          </a:prstGeom>
        </p:spPr>
      </p:pic>
      <p:pic>
        <p:nvPicPr>
          <p:cNvPr id="7" name="Animation-2-concept" descr="Giai cấp đối kháng">
            <a:extLst>
              <a:ext uri="{FF2B5EF4-FFF2-40B4-BE49-F238E27FC236}">
                <a16:creationId xmlns:a16="http://schemas.microsoft.com/office/drawing/2014/main" id="{DDAF6A24-8E73-5128-99F5-956EDDB29F9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2019300" y="3295650"/>
            <a:ext cx="4791075" cy="1228725"/>
          </a:xfrm>
          <a:prstGeom prst="rect">
            <a:avLst/>
          </a:prstGeom>
        </p:spPr>
      </p:pic>
      <p:pic>
        <p:nvPicPr>
          <p:cNvPr id="9" name="Animation-3-concept" descr="↔">
            <a:extLst>
              <a:ext uri="{FF2B5EF4-FFF2-40B4-BE49-F238E27FC236}">
                <a16:creationId xmlns:a16="http://schemas.microsoft.com/office/drawing/2014/main" id="{B8C7A5B8-A276-96B9-7FAA-DBEDDFF0CFD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296150" y="3867150"/>
            <a:ext cx="647700" cy="247650"/>
          </a:xfrm>
          <a:prstGeom prst="rect">
            <a:avLst/>
          </a:prstGeom>
        </p:spPr>
      </p:pic>
      <p:pic>
        <p:nvPicPr>
          <p:cNvPr id="11" name="Animation-4-concept" descr="Giai cấp đối kháng">
            <a:extLst>
              <a:ext uri="{FF2B5EF4-FFF2-40B4-BE49-F238E27FC236}">
                <a16:creationId xmlns:a16="http://schemas.microsoft.com/office/drawing/2014/main" id="{0018A238-FE57-9E56-0DD7-F3146ECD10B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429625" y="3295650"/>
            <a:ext cx="4791075" cy="1228725"/>
          </a:xfrm>
          <a:prstGeom prst="rect">
            <a:avLst/>
          </a:prstGeom>
        </p:spPr>
      </p:pic>
      <p:pic>
        <p:nvPicPr>
          <p:cNvPr id="13" name="Animation-5-emergence" descr="↓&#10;Nhà nước xuất hiện">
            <a:extLst>
              <a:ext uri="{FF2B5EF4-FFF2-40B4-BE49-F238E27FC236}">
                <a16:creationId xmlns:a16="http://schemas.microsoft.com/office/drawing/2014/main" id="{261C545F-F73F-F78E-7E0B-7BBAEF4CFAE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057900" y="4848225"/>
            <a:ext cx="3133725" cy="800100"/>
          </a:xfrm>
          <a:prstGeom prst="rect">
            <a:avLst/>
          </a:prstGeom>
        </p:spPr>
      </p:pic>
      <p:pic>
        <p:nvPicPr>
          <p:cNvPr id="15" name="Animation-6-reading" descr="Nhà nước hình thành khi mâu thuẫn không thể giải quyết bằng cơ chế tự quản cũ, tạo ra bộ máy quyền lực chuyên biệt để duy trì trật tự.">
            <a:extLst>
              <a:ext uri="{FF2B5EF4-FFF2-40B4-BE49-F238E27FC236}">
                <a16:creationId xmlns:a16="http://schemas.microsoft.com/office/drawing/2014/main" id="{ECF2CCD4-C1BA-0BC1-DA14-15D0033CEE70}"/>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619250" y="5943600"/>
            <a:ext cx="11944350" cy="685800"/>
          </a:xfrm>
          <a:prstGeom prst="rect">
            <a:avLst/>
          </a:prstGeom>
        </p:spPr>
      </p:pic>
      <p:pic>
        <p:nvPicPr>
          <p:cNvPr id="17" name="Animation-7-takeaway" descr="Một bộ máy quyền lực chuyên biệt để duy trì trật tự.">
            <a:extLst>
              <a:ext uri="{FF2B5EF4-FFF2-40B4-BE49-F238E27FC236}">
                <a16:creationId xmlns:a16="http://schemas.microsoft.com/office/drawing/2014/main" id="{70375A64-B28D-20AD-1615-9D709A464993}"/>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876300" y="6972300"/>
            <a:ext cx="13487400" cy="561975"/>
          </a:xfrm>
          <a:prstGeom prst="rect">
            <a:avLst/>
          </a:prstGeom>
        </p:spPr>
      </p:pic>
    </p:spTree>
    <p:extLst>
      <p:ext uri="{BB962C8B-B14F-4D97-AF65-F5344CB8AC3E}">
        <p14:creationId xmlns:p14="http://schemas.microsoft.com/office/powerpoint/2010/main" val="8287837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22" presetClass="entr" presetSubtype="8"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4AA7214C-BCCD-C221-3653-E06F8A46953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Quyền lực gắn với lợi ích giai cấp.">
            <a:extLst>
              <a:ext uri="{FF2B5EF4-FFF2-40B4-BE49-F238E27FC236}">
                <a16:creationId xmlns:a16="http://schemas.microsoft.com/office/drawing/2014/main" id="{546EC9C9-14F7-0019-A685-5FE750E07A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04875" y="1257300"/>
            <a:ext cx="9363075" cy="685800"/>
          </a:xfrm>
          <a:prstGeom prst="rect">
            <a:avLst/>
          </a:prstGeom>
        </p:spPr>
      </p:pic>
      <p:pic>
        <p:nvPicPr>
          <p:cNvPr id="7" name="Animation-2-concept" descr="Giai cấp thống trị&#10;về kinh tế">
            <a:extLst>
              <a:ext uri="{FF2B5EF4-FFF2-40B4-BE49-F238E27FC236}">
                <a16:creationId xmlns:a16="http://schemas.microsoft.com/office/drawing/2014/main" id="{EF8055E4-9483-2E08-8AAD-F9D8910D894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2847975"/>
            <a:ext cx="3990975" cy="1609725"/>
          </a:xfrm>
          <a:prstGeom prst="rect">
            <a:avLst/>
          </a:prstGeom>
        </p:spPr>
      </p:pic>
      <p:pic>
        <p:nvPicPr>
          <p:cNvPr id="9" name="Animation-3-concept" descr="→">
            <a:extLst>
              <a:ext uri="{FF2B5EF4-FFF2-40B4-BE49-F238E27FC236}">
                <a16:creationId xmlns:a16="http://schemas.microsoft.com/office/drawing/2014/main" id="{9C97C928-0422-D97B-0D0C-EFCFFDD5F137}"/>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29200" y="3619500"/>
            <a:ext cx="438150" cy="171450"/>
          </a:xfrm>
          <a:prstGeom prst="rect">
            <a:avLst/>
          </a:prstGeom>
        </p:spPr>
      </p:pic>
      <p:pic>
        <p:nvPicPr>
          <p:cNvPr id="11" name="Animation-4-concept" descr="Quyền lực&#10;nhà nước">
            <a:extLst>
              <a:ext uri="{FF2B5EF4-FFF2-40B4-BE49-F238E27FC236}">
                <a16:creationId xmlns:a16="http://schemas.microsoft.com/office/drawing/2014/main" id="{FBBE6611-5045-AF77-BC3A-074ACB641FD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629275" y="2857500"/>
            <a:ext cx="3981450" cy="1590675"/>
          </a:xfrm>
          <a:prstGeom prst="rect">
            <a:avLst/>
          </a:prstGeom>
        </p:spPr>
      </p:pic>
      <p:pic>
        <p:nvPicPr>
          <p:cNvPr id="13" name="Animation-5-concept" descr="→">
            <a:extLst>
              <a:ext uri="{FF2B5EF4-FFF2-40B4-BE49-F238E27FC236}">
                <a16:creationId xmlns:a16="http://schemas.microsoft.com/office/drawing/2014/main" id="{85B9AA2A-ABC3-3F84-617D-AED746119730}"/>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772650" y="3619500"/>
            <a:ext cx="438150" cy="171450"/>
          </a:xfrm>
          <a:prstGeom prst="rect">
            <a:avLst/>
          </a:prstGeom>
        </p:spPr>
      </p:pic>
      <p:pic>
        <p:nvPicPr>
          <p:cNvPr id="15" name="Animation-6-concept" descr="Duy trì&#10;trật tự hiện hành">
            <a:extLst>
              <a:ext uri="{FF2B5EF4-FFF2-40B4-BE49-F238E27FC236}">
                <a16:creationId xmlns:a16="http://schemas.microsoft.com/office/drawing/2014/main" id="{552086B1-F2E8-B192-1834-EE99CA821F24}"/>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0372725" y="2847975"/>
            <a:ext cx="3990975" cy="1609725"/>
          </a:xfrm>
          <a:prstGeom prst="rect">
            <a:avLst/>
          </a:prstGeom>
        </p:spPr>
      </p:pic>
      <p:pic>
        <p:nvPicPr>
          <p:cNvPr id="17" name="Animation-7-reading" descr="Quyền lực được thực hiện qua bộ máy, chính sách và pháp luật. Trong một số thời kỳ, tương quan lực lượng gần cân bằng có thể tạo mức độc lập tương đối cho nhà nước.">
            <a:extLst>
              <a:ext uri="{FF2B5EF4-FFF2-40B4-BE49-F238E27FC236}">
                <a16:creationId xmlns:a16="http://schemas.microsoft.com/office/drawing/2014/main" id="{E9F067A0-629E-5F52-4053-5E9C15AB095B}"/>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1524000" y="4724400"/>
            <a:ext cx="11991975" cy="685800"/>
          </a:xfrm>
          <a:prstGeom prst="rect">
            <a:avLst/>
          </a:prstGeom>
        </p:spPr>
      </p:pic>
      <p:pic>
        <p:nvPicPr>
          <p:cNvPr id="19" name="Animation-8-takeaway" descr="Thông qua bộ máy, chính sách và pháp luật.">
            <a:extLst>
              <a:ext uri="{FF2B5EF4-FFF2-40B4-BE49-F238E27FC236}">
                <a16:creationId xmlns:a16="http://schemas.microsoft.com/office/drawing/2014/main" id="{BC01C3D1-5ACC-33C7-BE23-2BFB928643F8}"/>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876300" y="6972300"/>
            <a:ext cx="13487400" cy="561975"/>
          </a:xfrm>
          <a:prstGeom prst="rect">
            <a:avLst/>
          </a:prstGeom>
        </p:spPr>
      </p:pic>
    </p:spTree>
    <p:extLst>
      <p:ext uri="{BB962C8B-B14F-4D97-AF65-F5344CB8AC3E}">
        <p14:creationId xmlns:p14="http://schemas.microsoft.com/office/powerpoint/2010/main" val="15810777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2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par>
                                <p:cTn id="26" presetID="22" presetClass="entr" presetSubtype="8"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left)">
                                      <p:cBhvr>
                                        <p:cTn id="28"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5E12D17E-5F62-F0EB-0A04-27C4CDEB715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Ba dấu hiệu. Một thiết chế.">
            <a:extLst>
              <a:ext uri="{FF2B5EF4-FFF2-40B4-BE49-F238E27FC236}">
                <a16:creationId xmlns:a16="http://schemas.microsoft.com/office/drawing/2014/main" id="{CE57FAD0-EF78-812F-60B2-49AE0B10815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95350" y="1276350"/>
            <a:ext cx="7419975" cy="628650"/>
          </a:xfrm>
          <a:prstGeom prst="rect">
            <a:avLst/>
          </a:prstGeom>
        </p:spPr>
      </p:pic>
      <p:pic>
        <p:nvPicPr>
          <p:cNvPr id="7" name="Animation-2-concept" descr="Lãnh thổ&#10;&#10;Quản lý dân cư&#10;theo địa giới.">
            <a:extLst>
              <a:ext uri="{FF2B5EF4-FFF2-40B4-BE49-F238E27FC236}">
                <a16:creationId xmlns:a16="http://schemas.microsoft.com/office/drawing/2014/main" id="{3E7FA5B5-616D-180C-8A5D-00FA3FADADB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2543175"/>
            <a:ext cx="4191000" cy="2914650"/>
          </a:xfrm>
          <a:prstGeom prst="rect">
            <a:avLst/>
          </a:prstGeom>
        </p:spPr>
      </p:pic>
      <p:pic>
        <p:nvPicPr>
          <p:cNvPr id="9" name="Animation-3-concept" descr="Quyền lực công cộng&#10;&#10;Bộ máy chuyên nghiệp,&#10;công cụ cưỡng chế.">
            <a:extLst>
              <a:ext uri="{FF2B5EF4-FFF2-40B4-BE49-F238E27FC236}">
                <a16:creationId xmlns:a16="http://schemas.microsoft.com/office/drawing/2014/main" id="{B51A9E46-D9F0-1099-96F9-26BD35940EA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524500" y="2543175"/>
            <a:ext cx="4191000" cy="2914650"/>
          </a:xfrm>
          <a:prstGeom prst="rect">
            <a:avLst/>
          </a:prstGeom>
        </p:spPr>
      </p:pic>
      <p:pic>
        <p:nvPicPr>
          <p:cNvPr id="11" name="Animation-4-concept" descr="Thuế khóa&#10;&#10;Nguồn tài chính chủ yếu&#10;để vận hành.">
            <a:extLst>
              <a:ext uri="{FF2B5EF4-FFF2-40B4-BE49-F238E27FC236}">
                <a16:creationId xmlns:a16="http://schemas.microsoft.com/office/drawing/2014/main" id="{9140BE2E-7251-FCD6-2BB6-110FD236BE41}"/>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0172700" y="2543175"/>
            <a:ext cx="4191000" cy="2914650"/>
          </a:xfrm>
          <a:prstGeom prst="rect">
            <a:avLst/>
          </a:prstGeom>
        </p:spPr>
      </p:pic>
      <p:pic>
        <p:nvPicPr>
          <p:cNvPr id="13" name="Animation-5-reading" descr="Ba dấu hiệu gắn với nhau: dân cư thuộc một lãnh thổ xác định, quyền lực được tổ chức thành bộ máy riêng và thuế duy trì hoạt động quản lý.">
            <a:extLst>
              <a:ext uri="{FF2B5EF4-FFF2-40B4-BE49-F238E27FC236}">
                <a16:creationId xmlns:a16="http://schemas.microsoft.com/office/drawing/2014/main" id="{9CCD1DC8-45B9-DA86-0132-BCE5B9D595DF}"/>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524000" y="5781675"/>
            <a:ext cx="11944350" cy="685800"/>
          </a:xfrm>
          <a:prstGeom prst="rect">
            <a:avLst/>
          </a:prstGeom>
        </p:spPr>
      </p:pic>
    </p:spTree>
    <p:extLst>
      <p:ext uri="{BB962C8B-B14F-4D97-AF65-F5344CB8AC3E}">
        <p14:creationId xmlns:p14="http://schemas.microsoft.com/office/powerpoint/2010/main" val="16870237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0C5BE094-F1F3-B515-CCFD-0568812793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Nhà nước làm gì?">
            <a:extLst>
              <a:ext uri="{FF2B5EF4-FFF2-40B4-BE49-F238E27FC236}">
                <a16:creationId xmlns:a16="http://schemas.microsoft.com/office/drawing/2014/main" id="{2F65E0B7-866A-6693-BAF3-AFB4B5DA352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95350" y="1304925"/>
            <a:ext cx="4905375" cy="638175"/>
          </a:xfrm>
          <a:prstGeom prst="rect">
            <a:avLst/>
          </a:prstGeom>
        </p:spPr>
      </p:pic>
      <p:pic>
        <p:nvPicPr>
          <p:cNvPr id="7" name="Animation-2-matrix" descr="Phạm vi ↓&#10;Thống trị chính trị&#10;Xã hội&#10;Đối nội&#10;Duy trì trật tự&#10;Giáo dục, y tế&#10;Đối ngoại&#10;Bảo vệ lợi ích quốc gia&#10;Hợp tác giáo dục, y tế">
            <a:extLst>
              <a:ext uri="{FF2B5EF4-FFF2-40B4-BE49-F238E27FC236}">
                <a16:creationId xmlns:a16="http://schemas.microsoft.com/office/drawing/2014/main" id="{0BF493A6-3E2B-D922-E501-135C18B77A79}"/>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2095500" y="2295525"/>
            <a:ext cx="11049000" cy="2609850"/>
          </a:xfrm>
          <a:prstGeom prst="rect">
            <a:avLst/>
          </a:prstGeom>
        </p:spPr>
      </p:pic>
      <p:pic>
        <p:nvPicPr>
          <p:cNvPr id="9" name="Animation-3-matrix-caption" descr="Ví dụ minh họa; các chức năng có thể đan xen.">
            <a:extLst>
              <a:ext uri="{FF2B5EF4-FFF2-40B4-BE49-F238E27FC236}">
                <a16:creationId xmlns:a16="http://schemas.microsoft.com/office/drawing/2014/main" id="{2EBE1042-7D7C-0400-F121-789E35A5018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800725" y="5124450"/>
            <a:ext cx="3638550" cy="200025"/>
          </a:xfrm>
          <a:prstGeom prst="rect">
            <a:avLst/>
          </a:prstGeom>
        </p:spPr>
      </p:pic>
      <p:pic>
        <p:nvPicPr>
          <p:cNvPr id="11" name="Animation-4-reading" descr="Một hoạt động có thể vừa thuộc phạm vi đối nội hoặc đối ngoại, vừa mang nội dung chính trị hoặc xã hội; hai trục này không loại trừ nhau.">
            <a:extLst>
              <a:ext uri="{FF2B5EF4-FFF2-40B4-BE49-F238E27FC236}">
                <a16:creationId xmlns:a16="http://schemas.microsoft.com/office/drawing/2014/main" id="{6B95E76C-D42E-6F92-4952-F53F331F5D5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000250" y="5476875"/>
            <a:ext cx="11220450" cy="600075"/>
          </a:xfrm>
          <a:prstGeom prst="rect">
            <a:avLst/>
          </a:prstGeom>
        </p:spPr>
      </p:pic>
      <p:pic>
        <p:nvPicPr>
          <p:cNvPr id="13" name="Animation-5-takeaway" descr="Hai trục: bản chất hoạt động và phạm vi hoạt động.">
            <a:extLst>
              <a:ext uri="{FF2B5EF4-FFF2-40B4-BE49-F238E27FC236}">
                <a16:creationId xmlns:a16="http://schemas.microsoft.com/office/drawing/2014/main" id="{4B2B310E-9CC2-4169-101E-D7178791845C}"/>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76300" y="6972300"/>
            <a:ext cx="13487400" cy="561975"/>
          </a:xfrm>
          <a:prstGeom prst="rect">
            <a:avLst/>
          </a:prstGeom>
        </p:spPr>
      </p:pic>
    </p:spTree>
    <p:extLst>
      <p:ext uri="{BB962C8B-B14F-4D97-AF65-F5344CB8AC3E}">
        <p14:creationId xmlns:p14="http://schemas.microsoft.com/office/powerpoint/2010/main" val="16958146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2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F0E56C0E-D31C-9C8A-D517-9D949DFAD12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Định hướng quyền lực.&#10;Duy trì điều kiện tồn tại.">
            <a:extLst>
              <a:ext uri="{FF2B5EF4-FFF2-40B4-BE49-F238E27FC236}">
                <a16:creationId xmlns:a16="http://schemas.microsoft.com/office/drawing/2014/main" id="{C5466A4B-C8DD-A1BB-8B07-3C072AD55D1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95350" y="1276350"/>
            <a:ext cx="6772275" cy="1457325"/>
          </a:xfrm>
          <a:prstGeom prst="rect">
            <a:avLst/>
          </a:prstGeom>
        </p:spPr>
      </p:pic>
      <p:pic>
        <p:nvPicPr>
          <p:cNvPr id="7" name="Animation-2-concept" descr="Thống trị&#10;chính trị&#10;&#10;Giữ vai trò định hướng">
            <a:extLst>
              <a:ext uri="{FF2B5EF4-FFF2-40B4-BE49-F238E27FC236}">
                <a16:creationId xmlns:a16="http://schemas.microsoft.com/office/drawing/2014/main" id="{64AF3401-168A-B821-27E8-8676D5F121A6}"/>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3429000" y="3028950"/>
            <a:ext cx="3524250" cy="3524250"/>
          </a:xfrm>
          <a:prstGeom prst="rect">
            <a:avLst/>
          </a:prstGeom>
        </p:spPr>
      </p:pic>
      <p:pic>
        <p:nvPicPr>
          <p:cNvPr id="9" name="Animation-3-concept" descr="↔">
            <a:extLst>
              <a:ext uri="{FF2B5EF4-FFF2-40B4-BE49-F238E27FC236}">
                <a16:creationId xmlns:a16="http://schemas.microsoft.com/office/drawing/2014/main" id="{E48EA976-A2F4-C61C-9031-1321F66A4870}"/>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324725" y="4752975"/>
            <a:ext cx="590550" cy="219075"/>
          </a:xfrm>
          <a:prstGeom prst="rect">
            <a:avLst/>
          </a:prstGeom>
        </p:spPr>
      </p:pic>
      <p:pic>
        <p:nvPicPr>
          <p:cNvPr id="11" name="Animation-4-concept" descr="Chức năng&#10;xã hội&#10;&#10;Tạo điều kiện ổn định">
            <a:extLst>
              <a:ext uri="{FF2B5EF4-FFF2-40B4-BE49-F238E27FC236}">
                <a16:creationId xmlns:a16="http://schemas.microsoft.com/office/drawing/2014/main" id="{3C5941B2-D088-DCFB-3455-888CD2EBF169}"/>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8296275" y="3028950"/>
            <a:ext cx="3524250" cy="3524250"/>
          </a:xfrm>
          <a:prstGeom prst="rect">
            <a:avLst/>
          </a:prstGeom>
        </p:spPr>
      </p:pic>
      <p:pic>
        <p:nvPicPr>
          <p:cNvPr id="13" name="Animation-5-reading" descr="Nhà nước tổ chức các công việc chung như giao thông, y tế, giáo dục và môi trường. Những hoạt động này duy trì điều kiện tồn tại và ổn định của xã hội.">
            <a:extLst>
              <a:ext uri="{FF2B5EF4-FFF2-40B4-BE49-F238E27FC236}">
                <a16:creationId xmlns:a16="http://schemas.microsoft.com/office/drawing/2014/main" id="{6C2F3E93-4564-AA39-EAF6-D23C1FB08EE2}"/>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619250" y="6819900"/>
            <a:ext cx="11763375" cy="685800"/>
          </a:xfrm>
          <a:prstGeom prst="rect">
            <a:avLst/>
          </a:prstGeom>
        </p:spPr>
      </p:pic>
    </p:spTree>
    <p:extLst>
      <p:ext uri="{BB962C8B-B14F-4D97-AF65-F5344CB8AC3E}">
        <p14:creationId xmlns:p14="http://schemas.microsoft.com/office/powerpoint/2010/main" val="28792658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20A1C796-5DFA-3CB6-34F3-36BE324DDA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Trong một quốc gia.&#10;Giữa các quốc gia.">
            <a:extLst>
              <a:ext uri="{FF2B5EF4-FFF2-40B4-BE49-F238E27FC236}">
                <a16:creationId xmlns:a16="http://schemas.microsoft.com/office/drawing/2014/main" id="{E53B4D2D-0661-0D3D-378F-AF586319450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85825" y="1276350"/>
            <a:ext cx="5581650" cy="1457325"/>
          </a:xfrm>
          <a:prstGeom prst="rect">
            <a:avLst/>
          </a:prstGeom>
        </p:spPr>
      </p:pic>
      <p:pic>
        <p:nvPicPr>
          <p:cNvPr id="7" name="Animation-2-concept" descr="Đối nội&#10;&#10;Tổ chức, quản lý&#10;xã hội trong nước.">
            <a:extLst>
              <a:ext uri="{FF2B5EF4-FFF2-40B4-BE49-F238E27FC236}">
                <a16:creationId xmlns:a16="http://schemas.microsoft.com/office/drawing/2014/main" id="{00375566-CB5F-6008-6CC6-3F82A5D3AD1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4000500"/>
            <a:ext cx="2143125" cy="1485900"/>
          </a:xfrm>
          <a:prstGeom prst="rect">
            <a:avLst/>
          </a:prstGeom>
        </p:spPr>
      </p:pic>
      <p:pic>
        <p:nvPicPr>
          <p:cNvPr id="9" name="Animation-3-concept" descr="Nhà nước&#10;↔">
            <a:extLst>
              <a:ext uri="{FF2B5EF4-FFF2-40B4-BE49-F238E27FC236}">
                <a16:creationId xmlns:a16="http://schemas.microsoft.com/office/drawing/2014/main" id="{4BD2BEEE-5124-F51B-AEA5-71CE3EAEDB0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6381750" y="3486150"/>
            <a:ext cx="2476500" cy="2476500"/>
          </a:xfrm>
          <a:prstGeom prst="rect">
            <a:avLst/>
          </a:prstGeom>
        </p:spPr>
      </p:pic>
      <p:pic>
        <p:nvPicPr>
          <p:cNvPr id="11" name="Animation-4-concept" descr="Đối ngoại&#10;&#10;Quan hệ, hợp tác;&#10;bảo vệ lợi ích quốc gia.">
            <a:extLst>
              <a:ext uri="{FF2B5EF4-FFF2-40B4-BE49-F238E27FC236}">
                <a16:creationId xmlns:a16="http://schemas.microsoft.com/office/drawing/2014/main" id="{BAEE7967-24F5-6CBE-65B1-69E32C26F4E5}"/>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9344025" y="4000500"/>
            <a:ext cx="2762250" cy="1485900"/>
          </a:xfrm>
          <a:prstGeom prst="rect">
            <a:avLst/>
          </a:prstGeom>
        </p:spPr>
      </p:pic>
      <p:pic>
        <p:nvPicPr>
          <p:cNvPr id="13" name="Animation-5-takeaway" descr="Hai mặt tác động qua lại: năng lực trong nước hỗ trợ hợp tác; hợp tác tác động trở lại đời sống trong nước.">
            <a:extLst>
              <a:ext uri="{FF2B5EF4-FFF2-40B4-BE49-F238E27FC236}">
                <a16:creationId xmlns:a16="http://schemas.microsoft.com/office/drawing/2014/main" id="{C6544ACE-2E81-D3D0-A32A-399FB070A384}"/>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76300" y="6972300"/>
            <a:ext cx="13487400" cy="561975"/>
          </a:xfrm>
          <a:prstGeom prst="rect">
            <a:avLst/>
          </a:prstGeom>
        </p:spPr>
      </p:pic>
    </p:spTree>
    <p:extLst>
      <p:ext uri="{BB962C8B-B14F-4D97-AF65-F5344CB8AC3E}">
        <p14:creationId xmlns:p14="http://schemas.microsoft.com/office/powerpoint/2010/main" val="29694156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2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A316311B-9868-815B-93A1-128AEF96B2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Điều kiện lịch sử đổi thay.&#10;Kiểu nhà nước biến đổi.">
            <a:extLst>
              <a:ext uri="{FF2B5EF4-FFF2-40B4-BE49-F238E27FC236}">
                <a16:creationId xmlns:a16="http://schemas.microsoft.com/office/drawing/2014/main" id="{9D265D10-F79F-1E32-482F-0B4E038AF1A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95350" y="1247775"/>
            <a:ext cx="7153275" cy="1343025"/>
          </a:xfrm>
          <a:prstGeom prst="rect">
            <a:avLst/>
          </a:prstGeom>
        </p:spPr>
      </p:pic>
      <p:pic>
        <p:nvPicPr>
          <p:cNvPr id="7" name="Animation-2-concept" descr="I&#10;Chủ nô">
            <a:extLst>
              <a:ext uri="{FF2B5EF4-FFF2-40B4-BE49-F238E27FC236}">
                <a16:creationId xmlns:a16="http://schemas.microsoft.com/office/drawing/2014/main" id="{B1FDC789-F6F6-5A13-530B-3C918FFE399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3362325"/>
            <a:ext cx="3162300" cy="1600200"/>
          </a:xfrm>
          <a:prstGeom prst="rect">
            <a:avLst/>
          </a:prstGeom>
        </p:spPr>
      </p:pic>
      <p:pic>
        <p:nvPicPr>
          <p:cNvPr id="9" name="Animation-3-concept" descr="II&#10;Phong kiến">
            <a:extLst>
              <a:ext uri="{FF2B5EF4-FFF2-40B4-BE49-F238E27FC236}">
                <a16:creationId xmlns:a16="http://schemas.microsoft.com/office/drawing/2014/main" id="{963114B4-F8B4-0C36-0AC8-9A30F5A18C1A}"/>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4324350" y="3362325"/>
            <a:ext cx="3152775" cy="1676400"/>
          </a:xfrm>
          <a:prstGeom prst="rect">
            <a:avLst/>
          </a:prstGeom>
        </p:spPr>
      </p:pic>
      <p:pic>
        <p:nvPicPr>
          <p:cNvPr id="11" name="Animation-4-concept" descr="III&#10;Tư sản">
            <a:extLst>
              <a:ext uri="{FF2B5EF4-FFF2-40B4-BE49-F238E27FC236}">
                <a16:creationId xmlns:a16="http://schemas.microsoft.com/office/drawing/2014/main" id="{51EFFB86-30B3-D757-8CB2-CE724F7DCB42}"/>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7762875" y="3362325"/>
            <a:ext cx="3162300" cy="1600200"/>
          </a:xfrm>
          <a:prstGeom prst="rect">
            <a:avLst/>
          </a:prstGeom>
        </p:spPr>
      </p:pic>
      <p:pic>
        <p:nvPicPr>
          <p:cNvPr id="13" name="Animation-5-concept" descr="IV&#10;Vô sản">
            <a:extLst>
              <a:ext uri="{FF2B5EF4-FFF2-40B4-BE49-F238E27FC236}">
                <a16:creationId xmlns:a16="http://schemas.microsoft.com/office/drawing/2014/main" id="{6E4EA7F1-1C78-7239-8622-168E4EB62D5D}"/>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1201400" y="3362325"/>
            <a:ext cx="3162300" cy="1600200"/>
          </a:xfrm>
          <a:prstGeom prst="rect">
            <a:avLst/>
          </a:prstGeom>
        </p:spPr>
      </p:pic>
      <p:pic>
        <p:nvPicPr>
          <p:cNvPr id="15" name="Animation-6-reading" descr="Giáo trình phân loại theo cơ sở giai cấp và điều kiện kinh tế – xã hội; đây là khung lý luận, không phải lộ trình giống nhau của mọi quốc gia.">
            <a:extLst>
              <a:ext uri="{FF2B5EF4-FFF2-40B4-BE49-F238E27FC236}">
                <a16:creationId xmlns:a16="http://schemas.microsoft.com/office/drawing/2014/main" id="{891E49C8-946B-31DF-E39F-FFBB163FA031}"/>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524000" y="5334000"/>
            <a:ext cx="12172950" cy="685800"/>
          </a:xfrm>
          <a:prstGeom prst="rect">
            <a:avLst/>
          </a:prstGeom>
        </p:spPr>
      </p:pic>
      <p:pic>
        <p:nvPicPr>
          <p:cNvPr id="17" name="Animation-7-takeaway" descr="Phân loại theo cơ sở giai cấp và điều kiện kinh tế – xã hội.">
            <a:extLst>
              <a:ext uri="{FF2B5EF4-FFF2-40B4-BE49-F238E27FC236}">
                <a16:creationId xmlns:a16="http://schemas.microsoft.com/office/drawing/2014/main" id="{61E0EA0D-24F5-7A82-0B84-C7D200AFBBC1}"/>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876300" y="6972300"/>
            <a:ext cx="13487400" cy="561975"/>
          </a:xfrm>
          <a:prstGeom prst="rect">
            <a:avLst/>
          </a:prstGeom>
        </p:spPr>
      </p:pic>
    </p:spTree>
    <p:extLst>
      <p:ext uri="{BB962C8B-B14F-4D97-AF65-F5344CB8AC3E}">
        <p14:creationId xmlns:p14="http://schemas.microsoft.com/office/powerpoint/2010/main" val="6057508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22" presetClass="entr" presetSubtype="8"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DB71F2AA-9B88-3089-E446-15E8C9B7BBE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Một kiểu. Nhiều hình thức.">
            <a:extLst>
              <a:ext uri="{FF2B5EF4-FFF2-40B4-BE49-F238E27FC236}">
                <a16:creationId xmlns:a16="http://schemas.microsoft.com/office/drawing/2014/main" id="{2A7AC1F0-8B37-CE14-8DE1-3284A83901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95350" y="1247775"/>
            <a:ext cx="7496175" cy="657225"/>
          </a:xfrm>
          <a:prstGeom prst="rect">
            <a:avLst/>
          </a:prstGeom>
        </p:spPr>
      </p:pic>
      <p:pic>
        <p:nvPicPr>
          <p:cNvPr id="7" name="Animation-2-concept" descr="Kiểu nhà nước&#10;Cơ sở giai cấp và điều kiện kinh tế – xã hội.&#10;&#10;Hình thức nhà nước&#10;Cách tổ chức và phương thức thực hiện quyền lực.">
            <a:extLst>
              <a:ext uri="{FF2B5EF4-FFF2-40B4-BE49-F238E27FC236}">
                <a16:creationId xmlns:a16="http://schemas.microsoft.com/office/drawing/2014/main" id="{78DFFF92-5071-CAE1-0D64-F132DDB6C80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2524125"/>
            <a:ext cx="4391025" cy="3143250"/>
          </a:xfrm>
          <a:prstGeom prst="rect">
            <a:avLst/>
          </a:prstGeom>
        </p:spPr>
      </p:pic>
      <p:pic>
        <p:nvPicPr>
          <p:cNvPr id="9" name="Animation-3-concept" descr="Nhà nước tư sản&#10;Cộng hòa&#10;Quân chủ lập hiến&#10;&#10;Ví dụ theo giáo trình.">
            <a:extLst>
              <a:ext uri="{FF2B5EF4-FFF2-40B4-BE49-F238E27FC236}">
                <a16:creationId xmlns:a16="http://schemas.microsoft.com/office/drawing/2014/main" id="{D41E088E-7FF2-1632-BA82-12A4BA1F7F06}"/>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6257925" y="2524125"/>
            <a:ext cx="8105775" cy="2800350"/>
          </a:xfrm>
          <a:prstGeom prst="rect">
            <a:avLst/>
          </a:prstGeom>
        </p:spPr>
      </p:pic>
      <p:pic>
        <p:nvPicPr>
          <p:cNvPr id="11" name="Animation-4-takeaway" descr="Kiểu nhà nước ≠ Hình thức nhà nước.">
            <a:extLst>
              <a:ext uri="{FF2B5EF4-FFF2-40B4-BE49-F238E27FC236}">
                <a16:creationId xmlns:a16="http://schemas.microsoft.com/office/drawing/2014/main" id="{25E3A7E8-D6DE-F091-4B7B-443B5D8FEC8F}"/>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876300" y="6972300"/>
            <a:ext cx="13487400" cy="561975"/>
          </a:xfrm>
          <a:prstGeom prst="rect">
            <a:avLst/>
          </a:prstGeom>
        </p:spPr>
      </p:pic>
    </p:spTree>
    <p:extLst>
      <p:ext uri="{BB962C8B-B14F-4D97-AF65-F5344CB8AC3E}">
        <p14:creationId xmlns:p14="http://schemas.microsoft.com/office/powerpoint/2010/main" val="30037318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22" presetClass="entr" presetSubtype="8"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03C8D4EF-0268-63BA-8338-7531F65A8D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Nhà nước pháp quyền&#10;xã hội chủ nghĩa.">
            <a:extLst>
              <a:ext uri="{FF2B5EF4-FFF2-40B4-BE49-F238E27FC236}">
                <a16:creationId xmlns:a16="http://schemas.microsoft.com/office/drawing/2014/main" id="{4DD6F0F3-F877-E214-F08D-EA28332C43C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76300" y="1257300"/>
            <a:ext cx="5895975" cy="1371600"/>
          </a:xfrm>
          <a:prstGeom prst="rect">
            <a:avLst/>
          </a:prstGeom>
        </p:spPr>
      </p:pic>
      <p:pic>
        <p:nvPicPr>
          <p:cNvPr id="7" name="Animation-2-principles" descr="Đảng lãnh đạo.&#10;Nhà nước quản lý.&#10;Nhân dân làm chủ.">
            <a:extLst>
              <a:ext uri="{FF2B5EF4-FFF2-40B4-BE49-F238E27FC236}">
                <a16:creationId xmlns:a16="http://schemas.microsoft.com/office/drawing/2014/main" id="{71620180-B976-5083-B0F5-E3E79EBAF59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3124200"/>
            <a:ext cx="3752850" cy="2000250"/>
          </a:xfrm>
          <a:prstGeom prst="rect">
            <a:avLst/>
          </a:prstGeom>
        </p:spPr>
      </p:pic>
      <p:pic>
        <p:nvPicPr>
          <p:cNvPr id="9" name="Animation-3-priority" descr="Dân chủ,&#10;pháp quyền">
            <a:extLst>
              <a:ext uri="{FF2B5EF4-FFF2-40B4-BE49-F238E27FC236}">
                <a16:creationId xmlns:a16="http://schemas.microsoft.com/office/drawing/2014/main" id="{9B5603D3-8B9C-D80A-37CF-985A5E839893}"/>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8353425" y="3152775"/>
            <a:ext cx="2895600" cy="809625"/>
          </a:xfrm>
          <a:prstGeom prst="rect">
            <a:avLst/>
          </a:prstGeom>
        </p:spPr>
      </p:pic>
      <p:pic>
        <p:nvPicPr>
          <p:cNvPr id="11" name="Animation-4-priority" descr="Cải cách,&#10;tinh gọn bộ máy">
            <a:extLst>
              <a:ext uri="{FF2B5EF4-FFF2-40B4-BE49-F238E27FC236}">
                <a16:creationId xmlns:a16="http://schemas.microsoft.com/office/drawing/2014/main" id="{45FC6A09-B706-85D1-8ED0-85F241C07128}"/>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1458575" y="3152775"/>
            <a:ext cx="2905125" cy="809625"/>
          </a:xfrm>
          <a:prstGeom prst="rect">
            <a:avLst/>
          </a:prstGeom>
        </p:spPr>
      </p:pic>
      <p:pic>
        <p:nvPicPr>
          <p:cNvPr id="13" name="Animation-5-priority" descr="Công khai,&#10;minh bạch">
            <a:extLst>
              <a:ext uri="{FF2B5EF4-FFF2-40B4-BE49-F238E27FC236}">
                <a16:creationId xmlns:a16="http://schemas.microsoft.com/office/drawing/2014/main" id="{3021D114-8F76-0FC4-8C90-AAF125AE6BE9}"/>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353425" y="4229100"/>
            <a:ext cx="2895600" cy="809625"/>
          </a:xfrm>
          <a:prstGeom prst="rect">
            <a:avLst/>
          </a:prstGeom>
        </p:spPr>
      </p:pic>
      <p:pic>
        <p:nvPicPr>
          <p:cNvPr id="15" name="Animation-6-priority" descr="Chống tham nhũng,&#10;lãng phí">
            <a:extLst>
              <a:ext uri="{FF2B5EF4-FFF2-40B4-BE49-F238E27FC236}">
                <a16:creationId xmlns:a16="http://schemas.microsoft.com/office/drawing/2014/main" id="{A27D9A4C-9DAA-6308-7054-FCC11022D4C5}"/>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1458575" y="4229100"/>
            <a:ext cx="2905125" cy="809625"/>
          </a:xfrm>
          <a:prstGeom prst="rect">
            <a:avLst/>
          </a:prstGeom>
        </p:spPr>
      </p:pic>
      <p:pic>
        <p:nvPicPr>
          <p:cNvPr id="17" name="Animation-7-reading" descr="Các trọng tâm này được trình bày theo giáo trình 2019, không phải phần cập nhật chính sách hay pháp luật hiện hành.">
            <a:extLst>
              <a:ext uri="{FF2B5EF4-FFF2-40B4-BE49-F238E27FC236}">
                <a16:creationId xmlns:a16="http://schemas.microsoft.com/office/drawing/2014/main" id="{9624D170-35EB-AA2F-5707-F851E0FF4B2F}"/>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1524000" y="5391150"/>
            <a:ext cx="12144375" cy="685800"/>
          </a:xfrm>
          <a:prstGeom prst="rect">
            <a:avLst/>
          </a:prstGeom>
        </p:spPr>
      </p:pic>
    </p:spTree>
    <p:extLst>
      <p:ext uri="{BB962C8B-B14F-4D97-AF65-F5344CB8AC3E}">
        <p14:creationId xmlns:p14="http://schemas.microsoft.com/office/powerpoint/2010/main" val="19946754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1F283649-498F-636B-D88E-C9749D8EBB8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Hiểu nhà nước.">
            <a:extLst>
              <a:ext uri="{FF2B5EF4-FFF2-40B4-BE49-F238E27FC236}">
                <a16:creationId xmlns:a16="http://schemas.microsoft.com/office/drawing/2014/main" id="{F57D7B15-F3D8-DA43-BD50-E19CB68BA71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286250" y="1276350"/>
            <a:ext cx="6229350" cy="781050"/>
          </a:xfrm>
          <a:prstGeom prst="rect">
            <a:avLst/>
          </a:prstGeom>
        </p:spPr>
      </p:pic>
      <p:pic>
        <p:nvPicPr>
          <p:cNvPr id="7" name="Animation-2-concept" descr="Nguồn gốc&#10;&#10;Phân hóa →&#10;mâu thuẫn">
            <a:extLst>
              <a:ext uri="{FF2B5EF4-FFF2-40B4-BE49-F238E27FC236}">
                <a16:creationId xmlns:a16="http://schemas.microsoft.com/office/drawing/2014/main" id="{E1CCC919-8E79-7321-491C-4FEC8623C97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76300" y="2895600"/>
            <a:ext cx="2533650" cy="1438275"/>
          </a:xfrm>
          <a:prstGeom prst="rect">
            <a:avLst/>
          </a:prstGeom>
        </p:spPr>
      </p:pic>
      <p:pic>
        <p:nvPicPr>
          <p:cNvPr id="9" name="Animation-3-concept" descr="Bản chất&#10;&#10;Quyền lực gắn&#10;với lợi ích giai cấp">
            <a:extLst>
              <a:ext uri="{FF2B5EF4-FFF2-40B4-BE49-F238E27FC236}">
                <a16:creationId xmlns:a16="http://schemas.microsoft.com/office/drawing/2014/main" id="{EAAC5CEF-8B90-8CFE-9335-01E9754F896E}"/>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619500" y="2895600"/>
            <a:ext cx="2524125" cy="1485900"/>
          </a:xfrm>
          <a:prstGeom prst="rect">
            <a:avLst/>
          </a:prstGeom>
        </p:spPr>
      </p:pic>
      <p:pic>
        <p:nvPicPr>
          <p:cNvPr id="11" name="Animation-4-concept" descr="Đặc trưng&#10;&#10;Lãnh thổ&#10;Bộ máy · Thuế">
            <a:extLst>
              <a:ext uri="{FF2B5EF4-FFF2-40B4-BE49-F238E27FC236}">
                <a16:creationId xmlns:a16="http://schemas.microsoft.com/office/drawing/2014/main" id="{DDAF902C-0DE3-6C24-73C1-9B0A78AC18B4}"/>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353175" y="2895600"/>
            <a:ext cx="2533650" cy="1485900"/>
          </a:xfrm>
          <a:prstGeom prst="rect">
            <a:avLst/>
          </a:prstGeom>
        </p:spPr>
      </p:pic>
      <p:pic>
        <p:nvPicPr>
          <p:cNvPr id="13" name="Animation-5-concept" descr="Chức năng&#10;&#10;Chính trị · Xã hội&#10;Trong · Ngoài">
            <a:extLst>
              <a:ext uri="{FF2B5EF4-FFF2-40B4-BE49-F238E27FC236}">
                <a16:creationId xmlns:a16="http://schemas.microsoft.com/office/drawing/2014/main" id="{01E9D89A-2BFD-8306-1AC8-0AF0779FC092}"/>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096375" y="2895600"/>
            <a:ext cx="2524125" cy="1476375"/>
          </a:xfrm>
          <a:prstGeom prst="rect">
            <a:avLst/>
          </a:prstGeom>
        </p:spPr>
      </p:pic>
      <p:pic>
        <p:nvPicPr>
          <p:cNvPr id="15" name="Animation-6-concept" descr="Hình thức&#10;&#10;Tổ chức và&#10;thực hiện quyền lực">
            <a:extLst>
              <a:ext uri="{FF2B5EF4-FFF2-40B4-BE49-F238E27FC236}">
                <a16:creationId xmlns:a16="http://schemas.microsoft.com/office/drawing/2014/main" id="{91D82DCF-2FBA-CBA1-C05F-6923A6517E65}"/>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11830050" y="2895600"/>
            <a:ext cx="2533650" cy="1485900"/>
          </a:xfrm>
          <a:prstGeom prst="rect">
            <a:avLst/>
          </a:prstGeom>
        </p:spPr>
      </p:pic>
    </p:spTree>
    <p:extLst>
      <p:ext uri="{BB962C8B-B14F-4D97-AF65-F5344CB8AC3E}">
        <p14:creationId xmlns:p14="http://schemas.microsoft.com/office/powerpoint/2010/main" val="37211154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D59F5A4E-C08D-5510-6682-62350C53869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5240000" cy="8572500"/>
          </a:xfrm>
          <a:prstGeom prst="rect">
            <a:avLst/>
          </a:prstGeom>
        </p:spPr>
      </p:pic>
      <p:pic>
        <p:nvPicPr>
          <p:cNvPr id="5" name="!!Title" descr="Cùng đặt câu hỏi.">
            <a:extLst>
              <a:ext uri="{FF2B5EF4-FFF2-40B4-BE49-F238E27FC236}">
                <a16:creationId xmlns:a16="http://schemas.microsoft.com/office/drawing/2014/main" id="{2B290846-8C4E-CBEF-6BFB-A81FEA1C28B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04875" y="1266825"/>
            <a:ext cx="4800600" cy="676275"/>
          </a:xfrm>
          <a:prstGeom prst="rect">
            <a:avLst/>
          </a:prstGeom>
        </p:spPr>
      </p:pic>
      <p:pic>
        <p:nvPicPr>
          <p:cNvPr id="7" name="Animation-2-qa-mark" descr="Q&amp;A">
            <a:extLst>
              <a:ext uri="{FF2B5EF4-FFF2-40B4-BE49-F238E27FC236}">
                <a16:creationId xmlns:a16="http://schemas.microsoft.com/office/drawing/2014/main" id="{8546DBBE-8428-ED24-7374-3AD57A3943A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942975" y="2724150"/>
            <a:ext cx="2647950" cy="1190625"/>
          </a:xfrm>
          <a:prstGeom prst="rect">
            <a:avLst/>
          </a:prstGeom>
        </p:spPr>
      </p:pic>
      <p:pic>
        <p:nvPicPr>
          <p:cNvPr id="9" name="Animation-3-question" descr="01 / BẢN CHẤT &amp; CHỨC NĂNG&#10;Có bản chất giai cấp, vì sao nhà nước&#10;vẫn thực hiện chức năng xã hội?&#10;Gợi ý: tổ chức việc chung để duy trì trật tự và điều kiện tồn tại của xã hội.">
            <a:extLst>
              <a:ext uri="{FF2B5EF4-FFF2-40B4-BE49-F238E27FC236}">
                <a16:creationId xmlns:a16="http://schemas.microsoft.com/office/drawing/2014/main" id="{353D05A4-361B-4407-0159-BD603FDF4FE6}"/>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4581525" y="2533650"/>
            <a:ext cx="9782175" cy="1847850"/>
          </a:xfrm>
          <a:prstGeom prst="rect">
            <a:avLst/>
          </a:prstGeom>
        </p:spPr>
      </p:pic>
      <p:pic>
        <p:nvPicPr>
          <p:cNvPr id="11" name="Animation-4-question" descr="02 / KIỂU &amp; HÌNH THỨC&#10;Cùng một kiểu nhà nước,&#10;có thể có nhiều hình thức không?&#10;Gợi ý: có; một kiểu có thể tổ chức quyền lực theo nhiều hình thức.">
            <a:extLst>
              <a:ext uri="{FF2B5EF4-FFF2-40B4-BE49-F238E27FC236}">
                <a16:creationId xmlns:a16="http://schemas.microsoft.com/office/drawing/2014/main" id="{3165C17E-E32F-E04C-FF30-E6363E6FA5E6}"/>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4591050" y="4638675"/>
            <a:ext cx="9772650" cy="1847850"/>
          </a:xfrm>
          <a:prstGeom prst="rect">
            <a:avLst/>
          </a:prstGeom>
        </p:spPr>
      </p:pic>
      <p:pic>
        <p:nvPicPr>
          <p:cNvPr id="13" name="Animation-5-source" descr="Nguồn nội dung: bản tóm tắt MLN111 do nhóm cung cấp, dựa trên&#10;Giáo trình Triết học Mác – Lênin (2019), mục “Nhà nước”, tr. 212–223.">
            <a:extLst>
              <a:ext uri="{FF2B5EF4-FFF2-40B4-BE49-F238E27FC236}">
                <a16:creationId xmlns:a16="http://schemas.microsoft.com/office/drawing/2014/main" id="{C928D28B-06C9-4BF4-C908-EC40A55BC094}"/>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4591050" y="7115175"/>
            <a:ext cx="4819650" cy="409575"/>
          </a:xfrm>
          <a:prstGeom prst="rect">
            <a:avLst/>
          </a:prstGeom>
        </p:spPr>
      </p:pic>
    </p:spTree>
    <p:extLst>
      <p:ext uri="{BB962C8B-B14F-4D97-AF65-F5344CB8AC3E}">
        <p14:creationId xmlns:p14="http://schemas.microsoft.com/office/powerpoint/2010/main" val="718964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2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1549</Words>
  <Application>Microsoft Office PowerPoint</Application>
  <PresentationFormat>Custom</PresentationFormat>
  <Paragraphs>86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Khôi Nguyễn</dc:creator>
  <cp:lastModifiedBy>Khôi Nguyễn</cp:lastModifiedBy>
  <cp:revision>2</cp:revision>
  <dcterms:created xsi:type="dcterms:W3CDTF">2026-09-30T04:35:28Z</dcterms:created>
  <dcterms:modified xsi:type="dcterms:W3CDTF">2026-09-30T04:40:53Z</dcterms:modified>
</cp:coreProperties>
</file>